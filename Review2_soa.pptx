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62" r:id="rId4"/>
    <p:sldId id="707" r:id="rId6"/>
    <p:sldId id="257" r:id="rId7"/>
    <p:sldId id="903" r:id="rId8"/>
    <p:sldId id="902" r:id="rId9"/>
    <p:sldId id="258" r:id="rId10"/>
    <p:sldId id="904" r:id="rId11"/>
    <p:sldId id="259" r:id="rId12"/>
    <p:sldId id="26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slideLayout" Target="../slideLayouts/slideLayout18.xml"/><Relationship Id="rId13" Type="http://schemas.openxmlformats.org/officeDocument/2006/relationships/image" Target="../media/image1.png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657225"/>
            <a:ext cx="10434955" cy="833120"/>
          </a:xfrm>
          <a:prstGeom prst="roundRect">
            <a:avLst/>
          </a:prstGeom>
          <a:solidFill>
            <a:srgbClr val="0070C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58698"/>
            <a:ext cx="10195560" cy="5219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Georgia" panose="02040502050405020303" charset="0"/>
                <a:cs typeface="Georgia" panose="02040502050405020303" charset="0"/>
              </a:rPr>
              <a:t>AgriShield – Smart Crop &amp; Farmer Support System</a:t>
            </a:r>
            <a:endParaRPr sz="2800" b="1">
              <a:solidFill>
                <a:srgbClr val="FFFFFF"/>
              </a:solidFill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200" y="2240280"/>
            <a:ext cx="5760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232323"/>
                </a:solidFill>
                <a:latin typeface="Georgia" panose="02040502050405020303"/>
              </a:rPr>
              <a:t>SOA Project Review-2</a:t>
            </a:r>
            <a:endParaRPr sz="3000" b="1">
              <a:solidFill>
                <a:srgbClr val="232323"/>
              </a:solidFill>
              <a:latin typeface="Georgia" panose="020405020504050203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749039" y="2788920"/>
            <a:ext cx="4297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DC3737"/>
                </a:solidFill>
                <a:latin typeface="Aptos"/>
              </a:rPr>
              <a:t>September 2026</a:t>
            </a:r>
            <a:endParaRPr sz="1800" b="1">
              <a:solidFill>
                <a:srgbClr val="DC3737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46120" y="3127248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70C0"/>
                </a:solidFill>
                <a:latin typeface="Aptos"/>
              </a:rPr>
              <a:t>SOA Programming and Microservices (24SDCS03)</a:t>
            </a:r>
            <a:endParaRPr sz="1600" b="1">
              <a:solidFill>
                <a:srgbClr val="0070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4160520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DC3737"/>
                </a:solidFill>
                <a:latin typeface="Aptos"/>
              </a:rPr>
              <a:t>Under the Guidance of</a:t>
            </a:r>
            <a:endParaRPr sz="1700" b="1">
              <a:solidFill>
                <a:srgbClr val="DC3737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4498848"/>
            <a:ext cx="49377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32323"/>
                </a:solidFill>
                <a:latin typeface="Aptos"/>
              </a:rPr>
              <a:t>Ms. Navyatha
Department of Computer Science and Engineering
KLH CSE Bowrampet Campus</a:t>
            </a:r>
            <a:endParaRPr sz="1500" b="1">
              <a:solidFill>
                <a:srgbClr val="232323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0" y="4160520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DC3737"/>
                </a:solidFill>
                <a:latin typeface="Aptos"/>
              </a:rPr>
              <a:t>Team Members</a:t>
            </a:r>
            <a:endParaRPr sz="1700" b="1">
              <a:solidFill>
                <a:srgbClr val="DC3737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0" y="4498848"/>
            <a:ext cx="40233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32323"/>
                </a:solidFill>
                <a:latin typeface="Aptos"/>
              </a:rPr>
              <a:t>Vaishnavi B — 2420090026
Lahari Krishna S — 2420090055</a:t>
            </a:r>
            <a:endParaRPr sz="1500" b="1">
              <a:solidFill>
                <a:srgbClr val="232323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041648" y="635508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A5A5A"/>
                </a:solidFill>
                <a:latin typeface="Aptos"/>
              </a:rPr>
              <a:t>SOA Programming &amp; Microservices • Review-2</a:t>
            </a:r>
            <a:endParaRPr sz="1000" b="0">
              <a:solidFill>
                <a:srgbClr val="5A5A5A"/>
              </a:solidFill>
              <a:latin typeface="Apto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2255" y="0"/>
            <a:ext cx="1769745" cy="5670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1828800" y="1234440"/>
            <a:ext cx="3840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70C0"/>
                </a:solidFill>
                <a:latin typeface="Aptos"/>
              </a:rPr>
              <a:t>1</a:t>
            </a:r>
            <a:endParaRPr sz="1600" b="1">
              <a:solidFill>
                <a:srgbClr val="0070C0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>
            <p:custDataLst>
              <p:tags r:id="rId2"/>
            </p:custDataLst>
          </p:nvPr>
        </p:nvSpPr>
        <p:spPr>
          <a:xfrm>
            <a:off x="2423160" y="1216152"/>
            <a:ext cx="6583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32323"/>
                </a:solidFill>
                <a:latin typeface="Aptos"/>
              </a:rPr>
              <a:t>Problem Statement</a:t>
            </a:r>
            <a:endParaRPr sz="1800" b="1">
              <a:solidFill>
                <a:srgbClr val="232323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>
            <p:custDataLst>
              <p:tags r:id="rId3"/>
            </p:custDataLst>
          </p:nvPr>
        </p:nvSpPr>
        <p:spPr>
          <a:xfrm>
            <a:off x="1828800" y="1892808"/>
            <a:ext cx="3840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70C0"/>
                </a:solidFill>
                <a:latin typeface="Aptos"/>
              </a:rPr>
              <a:t>2</a:t>
            </a:r>
            <a:endParaRPr sz="1600" b="1">
              <a:solidFill>
                <a:srgbClr val="0070C0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>
            <p:custDataLst>
              <p:tags r:id="rId4"/>
            </p:custDataLst>
          </p:nvPr>
        </p:nvSpPr>
        <p:spPr>
          <a:xfrm>
            <a:off x="2423160" y="1874520"/>
            <a:ext cx="6583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32323"/>
                </a:solidFill>
                <a:latin typeface="Aptos"/>
              </a:rPr>
              <a:t>Project Objectives</a:t>
            </a:r>
            <a:endParaRPr sz="1800" b="1">
              <a:solidFill>
                <a:srgbClr val="232323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>
            <p:custDataLst>
              <p:tags r:id="rId5"/>
            </p:custDataLst>
          </p:nvPr>
        </p:nvSpPr>
        <p:spPr>
          <a:xfrm>
            <a:off x="1828800" y="2551176"/>
            <a:ext cx="3840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70C0"/>
                </a:solidFill>
                <a:latin typeface="Aptos"/>
              </a:rPr>
              <a:t>3</a:t>
            </a:r>
            <a:endParaRPr sz="1600" b="1">
              <a:solidFill>
                <a:srgbClr val="0070C0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>
            <p:custDataLst>
              <p:tags r:id="rId6"/>
            </p:custDataLst>
          </p:nvPr>
        </p:nvSpPr>
        <p:spPr>
          <a:xfrm>
            <a:off x="2423160" y="2532888"/>
            <a:ext cx="6583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32323"/>
                </a:solidFill>
                <a:latin typeface="Aptos"/>
              </a:rPr>
              <a:t>Project Design</a:t>
            </a:r>
            <a:endParaRPr sz="1800" b="1">
              <a:solidFill>
                <a:srgbClr val="232323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>
            <p:custDataLst>
              <p:tags r:id="rId7"/>
            </p:custDataLst>
          </p:nvPr>
        </p:nvSpPr>
        <p:spPr>
          <a:xfrm>
            <a:off x="1828800" y="3209544"/>
            <a:ext cx="3840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70C0"/>
                </a:solidFill>
                <a:latin typeface="Aptos"/>
              </a:rPr>
              <a:t>4</a:t>
            </a:r>
            <a:endParaRPr sz="1600" b="1">
              <a:solidFill>
                <a:srgbClr val="0070C0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>
            <p:custDataLst>
              <p:tags r:id="rId8"/>
            </p:custDataLst>
          </p:nvPr>
        </p:nvSpPr>
        <p:spPr>
          <a:xfrm>
            <a:off x="2423160" y="3200146"/>
            <a:ext cx="6583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32323"/>
                </a:solidFill>
                <a:latin typeface="Aptos"/>
              </a:rPr>
              <a:t>Methodology Adopted</a:t>
            </a:r>
            <a:endParaRPr sz="1800" b="1">
              <a:solidFill>
                <a:srgbClr val="232323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>
            <p:custDataLst>
              <p:tags r:id="rId9"/>
            </p:custDataLst>
          </p:nvPr>
        </p:nvSpPr>
        <p:spPr>
          <a:xfrm>
            <a:off x="1828800" y="3867912"/>
            <a:ext cx="3840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70C0"/>
                </a:solidFill>
                <a:latin typeface="Aptos"/>
              </a:rPr>
              <a:t>5</a:t>
            </a:r>
            <a:endParaRPr sz="1600" b="1">
              <a:solidFill>
                <a:srgbClr val="0070C0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>
            <p:custDataLst>
              <p:tags r:id="rId10"/>
            </p:custDataLst>
          </p:nvPr>
        </p:nvSpPr>
        <p:spPr>
          <a:xfrm>
            <a:off x="2423160" y="3849624"/>
            <a:ext cx="6583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32323"/>
                </a:solidFill>
                <a:latin typeface="Aptos"/>
              </a:rPr>
              <a:t>Technical Soundness</a:t>
            </a:r>
            <a:endParaRPr sz="1800" b="1">
              <a:solidFill>
                <a:srgbClr val="232323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>
            <p:custDataLst>
              <p:tags r:id="rId11"/>
            </p:custDataLst>
          </p:nvPr>
        </p:nvSpPr>
        <p:spPr>
          <a:xfrm>
            <a:off x="1828800" y="4526279"/>
            <a:ext cx="3840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70C0"/>
                </a:solidFill>
                <a:latin typeface="Aptos"/>
              </a:rPr>
              <a:t>6</a:t>
            </a:r>
            <a:endParaRPr sz="1600" b="1">
              <a:solidFill>
                <a:srgbClr val="0070C0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>
            <p:custDataLst>
              <p:tags r:id="rId12"/>
            </p:custDataLst>
          </p:nvPr>
        </p:nvSpPr>
        <p:spPr>
          <a:xfrm>
            <a:off x="2423160" y="4507992"/>
            <a:ext cx="6583680" cy="3683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32323"/>
                </a:solidFill>
                <a:latin typeface="Aptos"/>
              </a:rPr>
              <a:t>Conclusion &amp; Future Work</a:t>
            </a:r>
            <a:endParaRPr sz="1800" b="1">
              <a:solidFill>
                <a:srgbClr val="232323"/>
              </a:solidFill>
              <a:latin typeface="Aptos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74065" y="332740"/>
            <a:ext cx="9575165" cy="802005"/>
          </a:xfrm>
          <a:prstGeom prst="round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/>
              <a:t>Outline of Project</a:t>
            </a:r>
            <a:endParaRPr lang="en-IN" sz="2800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132588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DC3737"/>
                </a:solidFill>
                <a:latin typeface="Aptos"/>
              </a:rPr>
              <a:t>Current Challenges</a:t>
            </a:r>
            <a:endParaRPr sz="1700" b="1">
              <a:solidFill>
                <a:srgbClr val="DC3737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55775"/>
            <a:ext cx="4222750" cy="149987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• Delayed crop disease detection through manual inspection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• Unpredictable weather conditions affect farming decisions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• Inefficient irrigation practices due to limited real-time context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• Limited access to integrated agricultural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2588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DC3737"/>
                </a:solidFill>
                <a:latin typeface="Aptos"/>
              </a:rPr>
              <a:t>Impact</a:t>
            </a:r>
            <a:endParaRPr sz="1700" b="1">
              <a:solidFill>
                <a:srgbClr val="DC3737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17920" y="1755648"/>
            <a:ext cx="49377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• Manual crop inspection is time-consuming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• Increased production costs and risk of reduced yield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• Farmers need faster, data-driven 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058920"/>
            <a:ext cx="5255260" cy="73533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700" b="1">
                <a:solidFill>
                  <a:srgbClr val="DC3737"/>
                </a:solidFill>
                <a:latin typeface="Aptos"/>
              </a:rPr>
              <a:t>Proposed Response</a:t>
            </a:r>
            <a:endParaRPr sz="1700" b="1">
              <a:solidFill>
                <a:srgbClr val="DC3737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4393565"/>
            <a:ext cx="10058400" cy="4800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Aptos"/>
              </a:rPr>
              <a:t>A unified AI-powered platform combines crop-leaf image analysis with automatic environmental data to support disease detection, monitoring and actionable farming recommendations.</a:t>
            </a:r>
            <a:endParaRPr sz="1800" b="0">
              <a:solidFill>
                <a:srgbClr val="232323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525780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070C0"/>
                </a:solidFill>
                <a:latin typeface="Aptos"/>
              </a:rPr>
              <a:t>Goal: support precision farming through predictive analytics and real-time agricultural insights.</a:t>
            </a:r>
            <a:endParaRPr sz="1700" b="1">
              <a:solidFill>
                <a:srgbClr val="0070C0"/>
              </a:solidFill>
              <a:latin typeface="Aptos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22960" y="292735"/>
            <a:ext cx="9511665" cy="788035"/>
          </a:xfrm>
          <a:prstGeom prst="roundRect">
            <a:avLst/>
          </a:prstGeom>
          <a:solidFill>
            <a:srgbClr val="0070C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>
                <a:latin typeface="Georgia" panose="02040502050405020303" charset="0"/>
                <a:cs typeface="Georgia" panose="02040502050405020303" charset="0"/>
              </a:rPr>
              <a:t>Problem Statement</a:t>
            </a:r>
            <a:endParaRPr lang="en-IN" sz="2800" b="1">
              <a:latin typeface="Georgia" panose="02040502050405020303" charset="0"/>
              <a:cs typeface="Georgia" panose="02040502050405020303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640080" y="1234440"/>
            <a:ext cx="502920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1" y="1399032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70C0"/>
                </a:solidFill>
                <a:latin typeface="Aptos"/>
              </a:rPr>
              <a:t>1</a:t>
            </a:r>
            <a:endParaRPr sz="1600" b="1">
              <a:solidFill>
                <a:srgbClr val="0070C0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80160" y="1399032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32323"/>
                </a:solidFill>
                <a:latin typeface="Aptos"/>
              </a:rPr>
              <a:t>Automated Disease Detection</a:t>
            </a:r>
            <a:endParaRPr sz="1600" b="1">
              <a:solidFill>
                <a:srgbClr val="232323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59" y="1856232"/>
            <a:ext cx="4663440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Aptos"/>
              </a:rPr>
              <a:t>Detect crop diseases from uploaded leaf images using deep learning.</a:t>
            </a:r>
            <a:endParaRPr sz="1400" b="0">
              <a:solidFill>
                <a:srgbClr val="5A5A5A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126480" y="1234440"/>
            <a:ext cx="502920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91072" y="1399032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70C0"/>
                </a:solidFill>
                <a:latin typeface="Aptos"/>
              </a:rPr>
              <a:t>2</a:t>
            </a:r>
            <a:endParaRPr sz="1600" b="1">
              <a:solidFill>
                <a:srgbClr val="0070C0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66560" y="1399032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32323"/>
                </a:solidFill>
                <a:latin typeface="Aptos"/>
              </a:rPr>
              <a:t>Real-Time Monitoring</a:t>
            </a:r>
            <a:endParaRPr sz="1600" b="1">
              <a:solidFill>
                <a:srgbClr val="232323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309360" y="1856232"/>
            <a:ext cx="4663440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Aptos"/>
              </a:rPr>
              <a:t>Automatically obtain current environmental conditions through the Weather API.</a:t>
            </a:r>
            <a:endParaRPr sz="1400" b="0">
              <a:solidFill>
                <a:srgbClr val="5A5A5A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2606040"/>
            <a:ext cx="502920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2770632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70C0"/>
                </a:solidFill>
                <a:latin typeface="Aptos"/>
              </a:rPr>
              <a:t>3</a:t>
            </a:r>
            <a:endParaRPr sz="1600" b="1">
              <a:solidFill>
                <a:srgbClr val="0070C0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80160" y="2770632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32323"/>
                </a:solidFill>
                <a:latin typeface="Aptos"/>
              </a:rPr>
              <a:t>Intelligent Recommendations</a:t>
            </a:r>
            <a:endParaRPr sz="1600" b="1">
              <a:solidFill>
                <a:srgbClr val="232323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2959" y="3227832"/>
            <a:ext cx="4663440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Aptos"/>
              </a:rPr>
              <a:t>Generate irrigation, fertilizer and disease-management recommendations.</a:t>
            </a:r>
            <a:endParaRPr sz="1400" b="0">
              <a:solidFill>
                <a:srgbClr val="5A5A5A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02920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1072" y="2770632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70C0"/>
                </a:solidFill>
                <a:latin typeface="Aptos"/>
              </a:rPr>
              <a:t>4</a:t>
            </a:r>
            <a:endParaRPr sz="1600" b="1">
              <a:solidFill>
                <a:srgbClr val="0070C0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766560" y="2770632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32323"/>
                </a:solidFill>
                <a:latin typeface="Aptos"/>
              </a:rPr>
              <a:t>Interactive Dashboard</a:t>
            </a:r>
            <a:endParaRPr sz="1600" b="1">
              <a:solidFill>
                <a:srgbClr val="232323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09360" y="3227832"/>
            <a:ext cx="4663440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Aptos"/>
              </a:rPr>
              <a:t>Present disease reports, environmental analytics, historical predictions and recommendations.</a:t>
            </a:r>
            <a:endParaRPr sz="1400" b="0">
              <a:solidFill>
                <a:srgbClr val="5A5A5A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40080" y="3977639"/>
            <a:ext cx="502920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" y="4142231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70C0"/>
                </a:solidFill>
                <a:latin typeface="Aptos"/>
              </a:rPr>
              <a:t>5</a:t>
            </a:r>
            <a:endParaRPr sz="1600" b="1">
              <a:solidFill>
                <a:srgbClr val="0070C0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280160" y="4142231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32323"/>
                </a:solidFill>
                <a:latin typeface="Aptos"/>
              </a:rPr>
              <a:t>Reliable Platform</a:t>
            </a:r>
            <a:endParaRPr sz="1600" b="1">
              <a:solidFill>
                <a:srgbClr val="232323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2959" y="4599431"/>
            <a:ext cx="4663440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Aptos"/>
              </a:rPr>
              <a:t>Support modular deployment and future DevOps/MLOps practices.</a:t>
            </a:r>
            <a:endParaRPr sz="1400" b="0">
              <a:solidFill>
                <a:srgbClr val="5A5A5A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22960" y="54406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070C0"/>
                </a:solidFill>
                <a:latin typeface="Aptos"/>
              </a:rPr>
              <a:t>Outcome: an integrated, intelligent solution for sustainable agriculture.</a:t>
            </a:r>
            <a:endParaRPr sz="1700" b="1">
              <a:solidFill>
                <a:srgbClr val="0070C0"/>
              </a:solidFill>
              <a:latin typeface="Aptos"/>
            </a:endParaRP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1253490" y="274955"/>
            <a:ext cx="8996045" cy="751840"/>
          </a:xfrm>
          <a:prstGeom prst="roundRect">
            <a:avLst/>
          </a:prstGeom>
          <a:solidFill>
            <a:srgbClr val="0070C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>
                <a:latin typeface="Georgia" panose="02040502050405020303" charset="0"/>
                <a:cs typeface="Georgia" panose="02040502050405020303" charset="0"/>
              </a:rPr>
              <a:t>Project Objectives</a:t>
            </a:r>
            <a:endParaRPr lang="en-IN" sz="2800" b="1">
              <a:latin typeface="Georgia" panose="02040502050405020303" charset="0"/>
              <a:cs typeface="Georgia" panose="02040502050405020303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1078992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070C0"/>
                </a:solidFill>
                <a:latin typeface="Aptos"/>
              </a:rPr>
              <a:t>System Architecture &amp; Major Modules</a:t>
            </a:r>
            <a:endParaRPr sz="2000" b="1">
              <a:solidFill>
                <a:srgbClr val="0070C0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1691640"/>
            <a:ext cx="196596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856232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70C0"/>
                </a:solidFill>
                <a:latin typeface="Aptos"/>
              </a:rPr>
              <a:t>1</a:t>
            </a:r>
            <a:endParaRPr sz="1600" b="1">
              <a:solidFill>
                <a:srgbClr val="0070C0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1856232"/>
            <a:ext cx="1143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32323"/>
                </a:solidFill>
                <a:latin typeface="Aptos"/>
              </a:rPr>
              <a:t>Farmer / Browser</a:t>
            </a:r>
            <a:endParaRPr sz="1600" b="1">
              <a:solidFill>
                <a:srgbClr val="232323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2313432"/>
            <a:ext cx="1600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Aptos"/>
              </a:rPr>
              <a:t>User interaction</a:t>
            </a:r>
            <a:endParaRPr sz="1400" b="0">
              <a:solidFill>
                <a:srgbClr val="5A5A5A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496312" y="2148840"/>
            <a:ext cx="3474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070C0"/>
                </a:solidFill>
                <a:latin typeface="Aptos"/>
              </a:rPr>
              <a:t>→</a:t>
            </a:r>
            <a:endParaRPr sz="2000" b="1">
              <a:solidFill>
                <a:srgbClr val="0070C0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788920" y="1691640"/>
            <a:ext cx="196596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53512" y="1856232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70C0"/>
                </a:solidFill>
                <a:latin typeface="Aptos"/>
              </a:rPr>
              <a:t>2</a:t>
            </a:r>
            <a:endParaRPr sz="1600" b="1">
              <a:solidFill>
                <a:srgbClr val="0070C0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29000" y="1856232"/>
            <a:ext cx="114299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32323"/>
                </a:solidFill>
                <a:latin typeface="Aptos"/>
              </a:rPr>
              <a:t>React Frontend</a:t>
            </a:r>
            <a:endParaRPr sz="1600" b="1">
              <a:solidFill>
                <a:srgbClr val="232323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71800" y="2313432"/>
            <a:ext cx="1600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Aptos"/>
              </a:rPr>
              <a:t>Dashboard + prediction</a:t>
            </a:r>
            <a:endParaRPr sz="1400" b="0">
              <a:solidFill>
                <a:srgbClr val="5A5A5A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782312" y="2148840"/>
            <a:ext cx="3474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070C0"/>
                </a:solidFill>
                <a:latin typeface="Aptos"/>
              </a:rPr>
              <a:t>→</a:t>
            </a:r>
            <a:endParaRPr sz="2000" b="1">
              <a:solidFill>
                <a:srgbClr val="0070C0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074920" y="1691640"/>
            <a:ext cx="196596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9512" y="1856232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70C0"/>
                </a:solidFill>
                <a:latin typeface="Aptos"/>
              </a:rPr>
              <a:t>3</a:t>
            </a:r>
            <a:endParaRPr sz="1600" b="1">
              <a:solidFill>
                <a:srgbClr val="0070C0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715000" y="1856232"/>
            <a:ext cx="114299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32323"/>
                </a:solidFill>
                <a:latin typeface="Aptos"/>
              </a:rPr>
              <a:t>FastAPI Backend</a:t>
            </a:r>
            <a:endParaRPr sz="1600" b="1">
              <a:solidFill>
                <a:srgbClr val="232323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257800" y="2313432"/>
            <a:ext cx="1600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Aptos"/>
              </a:rPr>
              <a:t>REST + business logic</a:t>
            </a:r>
            <a:endParaRPr sz="1400" b="0">
              <a:solidFill>
                <a:srgbClr val="5A5A5A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068312" y="2148840"/>
            <a:ext cx="3474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070C0"/>
                </a:solidFill>
                <a:latin typeface="Aptos"/>
              </a:rPr>
              <a:t>→</a:t>
            </a:r>
            <a:endParaRPr sz="2000" b="1">
              <a:solidFill>
                <a:srgbClr val="0070C0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360920" y="1691640"/>
            <a:ext cx="196596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25512" y="1856232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70C0"/>
                </a:solidFill>
                <a:latin typeface="Aptos"/>
              </a:rPr>
              <a:t>4</a:t>
            </a:r>
            <a:endParaRPr sz="1600" b="1">
              <a:solidFill>
                <a:srgbClr val="0070C0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001000" y="1856232"/>
            <a:ext cx="1143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32323"/>
                </a:solidFill>
                <a:latin typeface="Aptos"/>
              </a:rPr>
              <a:t>AI Service</a:t>
            </a:r>
            <a:endParaRPr sz="1600" b="1">
              <a:solidFill>
                <a:srgbClr val="232323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543800" y="2313432"/>
            <a:ext cx="1600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Aptos"/>
              </a:rPr>
              <a:t>Disease prediction</a:t>
            </a:r>
            <a:endParaRPr sz="1400" b="0">
              <a:solidFill>
                <a:srgbClr val="5A5A5A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354312" y="2148840"/>
            <a:ext cx="3474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070C0"/>
                </a:solidFill>
                <a:latin typeface="Aptos"/>
              </a:rPr>
              <a:t>→</a:t>
            </a:r>
            <a:endParaRPr sz="2000" b="1">
              <a:solidFill>
                <a:srgbClr val="0070C0"/>
              </a:solidFill>
              <a:latin typeface="Apto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9646920" y="1691640"/>
            <a:ext cx="196596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11512" y="1856232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70C0"/>
                </a:solidFill>
                <a:latin typeface="Aptos"/>
              </a:rPr>
              <a:t>5</a:t>
            </a:r>
            <a:endParaRPr sz="1600" b="1">
              <a:solidFill>
                <a:srgbClr val="0070C0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287000" y="1856232"/>
            <a:ext cx="1143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32323"/>
                </a:solidFill>
                <a:latin typeface="Aptos"/>
              </a:rPr>
              <a:t>PostgreSQL</a:t>
            </a:r>
            <a:endParaRPr sz="1600" b="1">
              <a:solidFill>
                <a:srgbClr val="232323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829800" y="2313432"/>
            <a:ext cx="1600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Aptos"/>
              </a:rPr>
              <a:t>Users + history</a:t>
            </a:r>
            <a:endParaRPr sz="1400" b="0">
              <a:solidFill>
                <a:srgbClr val="5A5A5A"/>
              </a:solidFill>
              <a:latin typeface="Apto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914400" y="3429000"/>
            <a:ext cx="28346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8992" y="3593592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70C0"/>
                </a:solidFill>
                <a:latin typeface="Aptos"/>
              </a:rPr>
              <a:t>1</a:t>
            </a:r>
            <a:endParaRPr sz="1600" b="1">
              <a:solidFill>
                <a:srgbClr val="0070C0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554480" y="3593592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32323"/>
                </a:solidFill>
                <a:latin typeface="Aptos"/>
              </a:rPr>
              <a:t>Automatic Weather API</a:t>
            </a:r>
            <a:endParaRPr sz="1600" b="1">
              <a:solidFill>
                <a:srgbClr val="232323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97280" y="4050791"/>
            <a:ext cx="2468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Aptos"/>
              </a:rPr>
              <a:t>Temperature • Humidity • Rain • Cloud • Wind</a:t>
            </a:r>
            <a:endParaRPr sz="1400" b="0">
              <a:solidFill>
                <a:srgbClr val="5A5A5A"/>
              </a:solidFill>
              <a:latin typeface="Aptos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4206240" y="3429000"/>
            <a:ext cx="28346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70831" y="3593592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70C0"/>
                </a:solidFill>
                <a:latin typeface="Aptos"/>
              </a:rPr>
              <a:t>2</a:t>
            </a:r>
            <a:endParaRPr sz="1600" b="1">
              <a:solidFill>
                <a:srgbClr val="0070C0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846320" y="3593592"/>
            <a:ext cx="20116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32323"/>
                </a:solidFill>
                <a:latin typeface="Aptos"/>
              </a:rPr>
              <a:t>Recommendation Engine</a:t>
            </a:r>
            <a:endParaRPr sz="1600" b="1">
              <a:solidFill>
                <a:srgbClr val="232323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389120" y="4050791"/>
            <a:ext cx="2468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Aptos"/>
              </a:rPr>
              <a:t>Disease + Environment → Action + Why</a:t>
            </a:r>
            <a:endParaRPr sz="1400" b="0">
              <a:solidFill>
                <a:srgbClr val="5A5A5A"/>
              </a:solidFill>
              <a:latin typeface="Aptos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498079" y="3429000"/>
            <a:ext cx="28346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62671" y="3593592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70C0"/>
                </a:solidFill>
                <a:latin typeface="Aptos"/>
              </a:rPr>
              <a:t>3</a:t>
            </a:r>
            <a:endParaRPr sz="1600" b="1">
              <a:solidFill>
                <a:srgbClr val="0070C0"/>
              </a:solidFill>
              <a:latin typeface="Apto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138159" y="3593592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32323"/>
                </a:solidFill>
                <a:latin typeface="Aptos"/>
              </a:rPr>
              <a:t>Dashboard / History</a:t>
            </a:r>
            <a:endParaRPr sz="1600" b="1">
              <a:solidFill>
                <a:srgbClr val="232323"/>
              </a:solidFill>
              <a:latin typeface="Apto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680959" y="4050791"/>
            <a:ext cx="2468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Aptos"/>
              </a:rPr>
              <a:t>Analytics + stored decisions</a:t>
            </a:r>
            <a:endParaRPr sz="1400" b="0">
              <a:solidFill>
                <a:srgbClr val="5A5A5A"/>
              </a:solidFill>
              <a:latin typeface="Apto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22960" y="5074920"/>
            <a:ext cx="10058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5A5A5A"/>
                </a:solidFill>
                <a:latin typeface="Aptos"/>
              </a:rPr>
              <a:t>Core design principle: separate UI, API/business logic, AI inference, external weather data, recommendation logic and database persistence.</a:t>
            </a:r>
            <a:endParaRPr sz="1600" b="0">
              <a:solidFill>
                <a:srgbClr val="5A5A5A"/>
              </a:solidFill>
              <a:latin typeface="Aptos"/>
            </a:endParaRP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502920" y="657225"/>
            <a:ext cx="10434955" cy="833120"/>
          </a:xfrm>
          <a:prstGeom prst="roundRect">
            <a:avLst/>
          </a:prstGeom>
          <a:solidFill>
            <a:srgbClr val="0070C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>
                <a:latin typeface="Georgia" panose="02040502050405020303" charset="0"/>
                <a:cs typeface="Georgia" panose="02040502050405020303" charset="0"/>
              </a:rPr>
              <a:t>Project Design</a:t>
            </a:r>
            <a:endParaRPr lang="en-IN" sz="2800" b="1">
              <a:latin typeface="Georgia" panose="02040502050405020303" charset="0"/>
              <a:cs typeface="Georgia" panose="02040502050405020303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502920" y="1325880"/>
            <a:ext cx="251460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1490472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70C0"/>
                </a:solidFill>
                <a:latin typeface="Aptos"/>
              </a:rPr>
              <a:t>1</a:t>
            </a:r>
            <a:endParaRPr sz="1600" b="1">
              <a:solidFill>
                <a:srgbClr val="0070C0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" y="1490472"/>
            <a:ext cx="1691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32323"/>
                </a:solidFill>
                <a:latin typeface="Aptos"/>
              </a:rPr>
              <a:t>Location</a:t>
            </a:r>
            <a:endParaRPr sz="1600" b="1">
              <a:solidFill>
                <a:srgbClr val="232323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1947672"/>
            <a:ext cx="2148840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Aptos"/>
              </a:rPr>
              <a:t>Get farm/user location</a:t>
            </a:r>
            <a:endParaRPr sz="1400" b="0">
              <a:solidFill>
                <a:srgbClr val="5A5A5A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291839" y="1325880"/>
            <a:ext cx="251460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56432" y="1490472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70C0"/>
                </a:solidFill>
                <a:latin typeface="Aptos"/>
              </a:rPr>
              <a:t>2</a:t>
            </a:r>
            <a:endParaRPr sz="1600" b="1">
              <a:solidFill>
                <a:srgbClr val="0070C0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31920" y="1490472"/>
            <a:ext cx="1691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32323"/>
                </a:solidFill>
                <a:latin typeface="Aptos"/>
              </a:rPr>
              <a:t>Weather</a:t>
            </a:r>
            <a:endParaRPr sz="1600" b="1">
              <a:solidFill>
                <a:srgbClr val="232323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74720" y="1947672"/>
            <a:ext cx="2148840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Aptos"/>
              </a:rPr>
              <a:t>Automatically fetch current conditions</a:t>
            </a:r>
            <a:endParaRPr sz="1400" b="0">
              <a:solidFill>
                <a:srgbClr val="5A5A5A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080759" y="1325880"/>
            <a:ext cx="251460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45351" y="1490472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70C0"/>
                </a:solidFill>
                <a:latin typeface="Aptos"/>
              </a:rPr>
              <a:t>3</a:t>
            </a:r>
            <a:endParaRPr sz="1600" b="1">
              <a:solidFill>
                <a:srgbClr val="0070C0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720840" y="1490472"/>
            <a:ext cx="1691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32323"/>
                </a:solidFill>
                <a:latin typeface="Aptos"/>
              </a:rPr>
              <a:t>Image</a:t>
            </a:r>
            <a:endParaRPr sz="1600" b="1">
              <a:solidFill>
                <a:srgbClr val="232323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63640" y="1947672"/>
            <a:ext cx="2148840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Aptos"/>
              </a:rPr>
              <a:t>Upload crop leaf image</a:t>
            </a:r>
            <a:endParaRPr sz="1400" b="0">
              <a:solidFill>
                <a:srgbClr val="5A5A5A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869680" y="1325880"/>
            <a:ext cx="251460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34272" y="1490472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70C0"/>
                </a:solidFill>
                <a:latin typeface="Aptos"/>
              </a:rPr>
              <a:t>4</a:t>
            </a:r>
            <a:endParaRPr sz="1600" b="1">
              <a:solidFill>
                <a:srgbClr val="0070C0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509759" y="1490472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32323"/>
                </a:solidFill>
                <a:latin typeface="Aptos"/>
              </a:rPr>
              <a:t>Prediction</a:t>
            </a:r>
            <a:endParaRPr sz="1600" b="1">
              <a:solidFill>
                <a:srgbClr val="232323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052559" y="1947672"/>
            <a:ext cx="2148840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Aptos"/>
              </a:rPr>
              <a:t>Deep-learning disease classification</a:t>
            </a:r>
            <a:endParaRPr sz="1400" b="0">
              <a:solidFill>
                <a:srgbClr val="5A5A5A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02920" y="3108960"/>
            <a:ext cx="251460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3273552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70C0"/>
                </a:solidFill>
                <a:latin typeface="Aptos"/>
              </a:rPr>
              <a:t>5</a:t>
            </a:r>
            <a:endParaRPr sz="1600" b="1">
              <a:solidFill>
                <a:srgbClr val="0070C0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43000" y="3273552"/>
            <a:ext cx="1691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32323"/>
                </a:solidFill>
                <a:latin typeface="Aptos"/>
              </a:rPr>
              <a:t>Context</a:t>
            </a:r>
            <a:endParaRPr sz="1600" b="1">
              <a:solidFill>
                <a:srgbClr val="232323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5800" y="3730752"/>
            <a:ext cx="2148840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Aptos"/>
              </a:rPr>
              <a:t>Combine prediction + environment</a:t>
            </a:r>
            <a:endParaRPr sz="1400" b="0">
              <a:solidFill>
                <a:srgbClr val="5A5A5A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3291839" y="3108960"/>
            <a:ext cx="251460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56432" y="3273552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70C0"/>
                </a:solidFill>
                <a:latin typeface="Aptos"/>
              </a:rPr>
              <a:t>6</a:t>
            </a:r>
            <a:endParaRPr sz="1600" b="1">
              <a:solidFill>
                <a:srgbClr val="0070C0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931920" y="3273552"/>
            <a:ext cx="1691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32323"/>
                </a:solidFill>
                <a:latin typeface="Aptos"/>
              </a:rPr>
              <a:t>Explain</a:t>
            </a:r>
            <a:endParaRPr sz="1600" b="1">
              <a:solidFill>
                <a:srgbClr val="232323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74720" y="3730752"/>
            <a:ext cx="2148840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Aptos"/>
              </a:rPr>
              <a:t>Generate recommendation + reason</a:t>
            </a:r>
            <a:endParaRPr sz="1400" b="0">
              <a:solidFill>
                <a:srgbClr val="5A5A5A"/>
              </a:solidFill>
              <a:latin typeface="Apto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080759" y="3108960"/>
            <a:ext cx="251460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45351" y="3273552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70C0"/>
                </a:solidFill>
                <a:latin typeface="Aptos"/>
              </a:rPr>
              <a:t>7</a:t>
            </a:r>
            <a:endParaRPr sz="1600" b="1">
              <a:solidFill>
                <a:srgbClr val="0070C0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720840" y="3273552"/>
            <a:ext cx="1691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32323"/>
                </a:solidFill>
                <a:latin typeface="Aptos"/>
              </a:rPr>
              <a:t>Store</a:t>
            </a:r>
            <a:endParaRPr sz="1600" b="1">
              <a:solidFill>
                <a:srgbClr val="232323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263640" y="3730752"/>
            <a:ext cx="2148840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Aptos"/>
              </a:rPr>
              <a:t>Save prediction and context</a:t>
            </a:r>
            <a:endParaRPr sz="1400" b="0">
              <a:solidFill>
                <a:srgbClr val="5A5A5A"/>
              </a:solidFill>
              <a:latin typeface="Apto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869680" y="3108960"/>
            <a:ext cx="251460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34272" y="3273552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70C0"/>
                </a:solidFill>
                <a:latin typeface="Aptos"/>
              </a:rPr>
              <a:t>8</a:t>
            </a:r>
            <a:endParaRPr sz="1600" b="1">
              <a:solidFill>
                <a:srgbClr val="0070C0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509759" y="3273552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32323"/>
                </a:solidFill>
                <a:latin typeface="Aptos"/>
              </a:rPr>
              <a:t>Dashboard</a:t>
            </a:r>
            <a:endParaRPr sz="1600" b="1">
              <a:solidFill>
                <a:srgbClr val="232323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052559" y="3730752"/>
            <a:ext cx="2148840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Aptos"/>
              </a:rPr>
              <a:t>Display analytics and history</a:t>
            </a:r>
            <a:endParaRPr sz="1400" b="0">
              <a:solidFill>
                <a:srgbClr val="5A5A5A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22960" y="5074920"/>
            <a:ext cx="10058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70C0"/>
                </a:solidFill>
                <a:latin typeface="Aptos"/>
              </a:rPr>
              <a:t>Key change from Review-1 concept: environmental conditions are automatically obtained instead of requiring repeated manual entry.</a:t>
            </a:r>
            <a:endParaRPr sz="1600" b="1">
              <a:solidFill>
                <a:srgbClr val="0070C0"/>
              </a:solidFill>
              <a:latin typeface="Aptos"/>
            </a:endParaRP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1226820" y="311150"/>
            <a:ext cx="9022715" cy="724535"/>
          </a:xfrm>
          <a:prstGeom prst="roundRect">
            <a:avLst/>
          </a:prstGeom>
          <a:solidFill>
            <a:srgbClr val="0070C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>
                <a:latin typeface="Georgia" panose="02040502050405020303" charset="0"/>
                <a:cs typeface="Georgia" panose="02040502050405020303" charset="0"/>
              </a:rPr>
              <a:t>Methodology Adopted</a:t>
            </a:r>
            <a:endParaRPr lang="en-IN" sz="2800" b="1">
              <a:latin typeface="Georgia" panose="02040502050405020303" charset="0"/>
              <a:cs typeface="Georgia" panose="02040502050405020303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4219575" cy="1099820"/>
          </a:xfrm>
        </p:spPr>
        <p:txBody>
          <a:bodyPr>
            <a:normAutofit/>
          </a:bodyPr>
          <a:p>
            <a:endParaRPr lang="en-GB" altLang="en-US" sz="3110">
              <a:latin typeface="Georgia" panose="02040502050405020303" charset="0"/>
              <a:cs typeface="Georgia" panose="02040502050405020303" charset="0"/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835" y="1583055"/>
            <a:ext cx="10200640" cy="428815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457200"/>
            <a:ext cx="10118090" cy="1033145"/>
          </a:xfrm>
          <a:prstGeom prst="roundRect">
            <a:avLst/>
          </a:prstGeom>
          <a:solidFill>
            <a:srgbClr val="0070C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chemeClr val="bg1"/>
                </a:solidFill>
                <a:latin typeface="Georgia" panose="02040502050405020303" charset="0"/>
                <a:cs typeface="Georgia" panose="02040502050405020303" charset="0"/>
                <a:sym typeface="+mn-ea"/>
              </a:rPr>
              <a:t> </a:t>
            </a:r>
            <a:endParaRPr sz="2800" b="1">
              <a:solidFill>
                <a:schemeClr val="bg1"/>
              </a:solidFill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 algn="ctr"/>
            <a:r>
              <a:rPr sz="2800" b="1">
                <a:solidFill>
                  <a:schemeClr val="bg1"/>
                </a:solidFill>
                <a:latin typeface="Georgia" panose="02040502050405020303" charset="0"/>
                <a:cs typeface="Georgia" panose="02040502050405020303" charset="0"/>
                <a:sym typeface="+mn-ea"/>
              </a:rPr>
              <a:t>Methodology Adopted — AI + Automatic Weather</a:t>
            </a:r>
            <a:endParaRPr lang="en-GB" altLang="en-US" sz="2800" b="1">
              <a:solidFill>
                <a:schemeClr val="bg1"/>
              </a:solidFill>
              <a:latin typeface="Georgia" panose="02040502050405020303" charset="0"/>
              <a:cs typeface="Georgia" panose="02040502050405020303" charset="0"/>
            </a:endParaRPr>
          </a:p>
          <a:p>
            <a:pPr algn="ctr"/>
            <a:endParaRPr lang="en-GB" altLang="en-US" sz="2800" b="1">
              <a:solidFill>
                <a:schemeClr val="bg1"/>
              </a:solidFill>
              <a:latin typeface="Georgia" panose="02040502050405020303" charset="0"/>
              <a:cs typeface="Georgia" panose="02040502050405020303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548640" y="1234440"/>
            <a:ext cx="3337560" cy="1024128"/>
          </a:xfrm>
          <a:prstGeom prst="roundRect">
            <a:avLst/>
          </a:prstGeom>
          <a:solidFill>
            <a:srgbClr val="F8FAFC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399032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70C0"/>
                </a:solidFill>
                <a:latin typeface="Aptos"/>
              </a:rPr>
              <a:t>1</a:t>
            </a:r>
            <a:endParaRPr sz="1600" b="1">
              <a:solidFill>
                <a:srgbClr val="0070C0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8719" y="1399032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32323"/>
                </a:solidFill>
                <a:latin typeface="Aptos"/>
              </a:rPr>
              <a:t>React + Vite</a:t>
            </a:r>
            <a:endParaRPr sz="1600" b="1">
              <a:solidFill>
                <a:srgbClr val="232323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1856232"/>
            <a:ext cx="2971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Aptos"/>
              </a:rPr>
              <a:t>Frontend and dashboard</a:t>
            </a:r>
            <a:endParaRPr sz="1400" b="0">
              <a:solidFill>
                <a:srgbClr val="5A5A5A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251959" y="1234440"/>
            <a:ext cx="3337560" cy="1024128"/>
          </a:xfrm>
          <a:prstGeom prst="roundRect">
            <a:avLst/>
          </a:prstGeom>
          <a:solidFill>
            <a:srgbClr val="F8FAFC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16551" y="1399032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70C0"/>
                </a:solidFill>
                <a:latin typeface="Aptos"/>
              </a:rPr>
              <a:t>2</a:t>
            </a:r>
            <a:endParaRPr sz="1600" b="1">
              <a:solidFill>
                <a:srgbClr val="0070C0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92040" y="1399032"/>
            <a:ext cx="251459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32323"/>
                </a:solidFill>
                <a:latin typeface="Aptos"/>
              </a:rPr>
              <a:t>FastAPI</a:t>
            </a:r>
            <a:endParaRPr sz="1600" b="1">
              <a:solidFill>
                <a:srgbClr val="232323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434840" y="1856232"/>
            <a:ext cx="2971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Aptos"/>
              </a:rPr>
              <a:t>REST APIs and business logic</a:t>
            </a:r>
            <a:endParaRPr sz="1400" b="0">
              <a:solidFill>
                <a:srgbClr val="5A5A5A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955279" y="1234440"/>
            <a:ext cx="3337560" cy="1024128"/>
          </a:xfrm>
          <a:prstGeom prst="roundRect">
            <a:avLst/>
          </a:prstGeom>
          <a:solidFill>
            <a:srgbClr val="F8FAFC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9871" y="1399032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70C0"/>
                </a:solidFill>
                <a:latin typeface="Aptos"/>
              </a:rPr>
              <a:t>3</a:t>
            </a:r>
            <a:endParaRPr sz="1600" b="1">
              <a:solidFill>
                <a:srgbClr val="0070C0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595359" y="1399032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32323"/>
                </a:solidFill>
                <a:latin typeface="Aptos"/>
              </a:rPr>
              <a:t>Python AI Service</a:t>
            </a:r>
            <a:endParaRPr sz="1600" b="1">
              <a:solidFill>
                <a:srgbClr val="232323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138159" y="1856232"/>
            <a:ext cx="2971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Aptos"/>
              </a:rPr>
              <a:t>Disease inference</a:t>
            </a:r>
            <a:endParaRPr sz="1400" b="0">
              <a:solidFill>
                <a:srgbClr val="5A5A5A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48640" y="2560320"/>
            <a:ext cx="3337560" cy="1024128"/>
          </a:xfrm>
          <a:prstGeom prst="roundRect">
            <a:avLst/>
          </a:prstGeom>
          <a:solidFill>
            <a:srgbClr val="F8FAFC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724912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70C0"/>
                </a:solidFill>
                <a:latin typeface="Aptos"/>
              </a:rPr>
              <a:t>4</a:t>
            </a:r>
            <a:endParaRPr sz="1600" b="1">
              <a:solidFill>
                <a:srgbClr val="0070C0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88719" y="2724912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32323"/>
                </a:solidFill>
                <a:latin typeface="Aptos"/>
              </a:rPr>
              <a:t>PostgreSQL</a:t>
            </a:r>
            <a:endParaRPr sz="1600" b="1">
              <a:solidFill>
                <a:srgbClr val="232323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31520" y="3182112"/>
            <a:ext cx="2971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Aptos"/>
              </a:rPr>
              <a:t>Users, predictions and history</a:t>
            </a:r>
            <a:endParaRPr sz="1400" b="0">
              <a:solidFill>
                <a:srgbClr val="5A5A5A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251959" y="2560320"/>
            <a:ext cx="3337560" cy="1024128"/>
          </a:xfrm>
          <a:prstGeom prst="roundRect">
            <a:avLst/>
          </a:prstGeom>
          <a:solidFill>
            <a:srgbClr val="F8FAFC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16551" y="2724912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70C0"/>
                </a:solidFill>
                <a:latin typeface="Aptos"/>
              </a:rPr>
              <a:t>5</a:t>
            </a:r>
            <a:endParaRPr sz="1600" b="1">
              <a:solidFill>
                <a:srgbClr val="0070C0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892040" y="2724912"/>
            <a:ext cx="251459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32323"/>
                </a:solidFill>
                <a:latin typeface="Aptos"/>
              </a:rPr>
              <a:t>Weather API</a:t>
            </a:r>
            <a:endParaRPr sz="1600" b="1">
              <a:solidFill>
                <a:srgbClr val="232323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434840" y="3182112"/>
            <a:ext cx="2971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Aptos"/>
              </a:rPr>
              <a:t>Automatic environmental context</a:t>
            </a:r>
            <a:endParaRPr sz="1400" b="0">
              <a:solidFill>
                <a:srgbClr val="5A5A5A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955279" y="2560320"/>
            <a:ext cx="3337560" cy="1024128"/>
          </a:xfrm>
          <a:prstGeom prst="roundRect">
            <a:avLst/>
          </a:prstGeom>
          <a:solidFill>
            <a:srgbClr val="F8FAFC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19871" y="2724912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70C0"/>
                </a:solidFill>
                <a:latin typeface="Aptos"/>
              </a:rPr>
              <a:t>6</a:t>
            </a:r>
            <a:endParaRPr sz="1600" b="1">
              <a:solidFill>
                <a:srgbClr val="0070C0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595359" y="2724912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32323"/>
                </a:solidFill>
                <a:latin typeface="Aptos"/>
              </a:rPr>
              <a:t>Docker</a:t>
            </a:r>
            <a:endParaRPr sz="1600" b="1">
              <a:solidFill>
                <a:srgbClr val="232323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138160" y="3100705"/>
            <a:ext cx="2971800" cy="37401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Aptos"/>
              </a:rPr>
              <a:t>Reproducible multi-service deployment</a:t>
            </a:r>
            <a:endParaRPr sz="1400" b="0">
              <a:solidFill>
                <a:srgbClr val="5A5A5A"/>
              </a:solidFill>
              <a:latin typeface="Apto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48640" y="3886200"/>
            <a:ext cx="3337560" cy="1024128"/>
          </a:xfrm>
          <a:prstGeom prst="roundRect">
            <a:avLst/>
          </a:prstGeom>
          <a:solidFill>
            <a:srgbClr val="F8FAFC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4050791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70C0"/>
                </a:solidFill>
                <a:latin typeface="Aptos"/>
              </a:rPr>
              <a:t>7</a:t>
            </a:r>
            <a:endParaRPr sz="1600" b="1">
              <a:solidFill>
                <a:srgbClr val="0070C0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188719" y="4050791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32323"/>
                </a:solidFill>
                <a:latin typeface="Aptos"/>
              </a:rPr>
              <a:t>GitHub Actions + AWS</a:t>
            </a:r>
            <a:endParaRPr sz="1600" b="1">
              <a:solidFill>
                <a:srgbClr val="232323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31520" y="4507992"/>
            <a:ext cx="2971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Aptos"/>
              </a:rPr>
              <a:t>CI/CD and deployment path</a:t>
            </a:r>
            <a:endParaRPr sz="1400" b="0">
              <a:solidFill>
                <a:srgbClr val="5A5A5A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77240" y="4938395"/>
            <a:ext cx="10241280" cy="44323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600" b="0">
                <a:solidFill>
                  <a:srgbClr val="5A5A5A"/>
                </a:solidFill>
                <a:latin typeface="Aptos"/>
              </a:rPr>
              <a:t>API operations: authentication, environment data, image prediction, prediction history, dashboard analytics and administration.</a:t>
            </a:r>
            <a:endParaRPr sz="1600" b="0">
              <a:solidFill>
                <a:srgbClr val="5A5A5A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77240" y="5623560"/>
            <a:ext cx="10241280" cy="4508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800" b="1">
                <a:solidFill>
                  <a:srgbClr val="0070C0"/>
                </a:solidFill>
                <a:latin typeface="Aptos"/>
              </a:rPr>
              <a:t>Technical outcome: traceable prediction → context → recommendation → history.</a:t>
            </a:r>
            <a:endParaRPr sz="1800" b="1">
              <a:solidFill>
                <a:srgbClr val="0070C0"/>
              </a:solidFill>
              <a:latin typeface="Aptos"/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629920" y="318770"/>
            <a:ext cx="9811385" cy="715010"/>
          </a:xfrm>
          <a:prstGeom prst="roundRect">
            <a:avLst/>
          </a:prstGeom>
          <a:solidFill>
            <a:srgbClr val="0070C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b="1">
              <a:solidFill>
                <a:schemeClr val="bg1"/>
              </a:solidFill>
              <a:latin typeface="Georgia" panose="02040502050405020303"/>
              <a:sym typeface="+mn-ea"/>
            </a:endParaRPr>
          </a:p>
          <a:p>
            <a:pPr algn="ctr"/>
            <a:r>
              <a:rPr sz="2800" b="1">
                <a:solidFill>
                  <a:schemeClr val="bg1"/>
                </a:solidFill>
                <a:latin typeface="Georgia" panose="02040502050405020303"/>
                <a:sym typeface="+mn-ea"/>
              </a:rPr>
              <a:t>Technical Soundness of the Project</a:t>
            </a:r>
            <a:endParaRPr sz="2800" b="1">
              <a:solidFill>
                <a:schemeClr val="bg1"/>
              </a:solidFill>
              <a:latin typeface="Georgia" panose="02040502050405020303"/>
            </a:endParaRPr>
          </a:p>
          <a:p>
            <a:pPr algn="ctr"/>
            <a:endParaRPr sz="2800" b="1">
              <a:solidFill>
                <a:schemeClr val="bg1"/>
              </a:solidFill>
              <a:latin typeface="Georgia" panose="02040502050405020303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38785"/>
            <a:ext cx="4312920" cy="4413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endParaRPr sz="2900" b="1">
              <a:solidFill>
                <a:srgbClr val="232323"/>
              </a:solidFill>
              <a:latin typeface="Georgia" panose="02040502050405020303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033780"/>
            <a:ext cx="3657600" cy="5207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700" b="1">
                <a:solidFill>
                  <a:srgbClr val="DC3737"/>
                </a:solidFill>
                <a:latin typeface="Aptos"/>
              </a:rPr>
              <a:t>Review–2 Summary</a:t>
            </a:r>
            <a:endParaRPr sz="1700" b="1">
              <a:solidFill>
                <a:srgbClr val="DC3737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56235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070C0"/>
                </a:solidFill>
                <a:latin typeface="Aptos"/>
              </a:rPr>
              <a:t>Design → Methodology → Technical Implementation → Decision-Support System</a:t>
            </a:r>
            <a:endParaRPr sz="1700" b="1">
              <a:solidFill>
                <a:srgbClr val="0070C0"/>
              </a:solidFill>
              <a:latin typeface="Aptos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805" y="1388110"/>
            <a:ext cx="10666095" cy="416306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92200" y="249555"/>
            <a:ext cx="9211310" cy="784860"/>
          </a:xfrm>
          <a:prstGeom prst="roundRect">
            <a:avLst/>
          </a:prstGeom>
          <a:solidFill>
            <a:srgbClr val="0070C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b="1">
              <a:solidFill>
                <a:schemeClr val="bg1"/>
              </a:solidFill>
              <a:latin typeface="Georgia" panose="02040502050405020303"/>
              <a:sym typeface="+mn-ea"/>
            </a:endParaRPr>
          </a:p>
          <a:p>
            <a:pPr algn="ctr"/>
            <a:r>
              <a:rPr sz="2800" b="1">
                <a:solidFill>
                  <a:schemeClr val="bg1"/>
                </a:solidFill>
                <a:latin typeface="Georgia" panose="02040502050405020303"/>
                <a:sym typeface="+mn-ea"/>
              </a:rPr>
              <a:t>Conclusion &amp; Future Work</a:t>
            </a:r>
            <a:endParaRPr sz="2800" b="1">
              <a:solidFill>
                <a:schemeClr val="bg1"/>
              </a:solidFill>
              <a:latin typeface="Georgia" panose="02040502050405020303"/>
            </a:endParaRPr>
          </a:p>
          <a:p>
            <a:pPr algn="ctr"/>
            <a:endParaRPr sz="2800" b="1">
              <a:solidFill>
                <a:schemeClr val="bg1"/>
              </a:solidFill>
              <a:latin typeface="Georgia" panose="02040502050405020303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88.2,&quot;left&quot;:144,&quot;top&quot;:95.76,&quot;width&quot;:565.2}"/>
</p:tagLst>
</file>

<file path=ppt/tags/tag2.xml><?xml version="1.0" encoding="utf-8"?>
<p:tagLst xmlns:p="http://schemas.openxmlformats.org/presentationml/2006/main">
  <p:tag name="KSO_WM_DIAGRAM_VIRTUALLY_FRAME" val="{&quot;height&quot;:288.2,&quot;left&quot;:144,&quot;top&quot;:95.76,&quot;width&quot;:565.2}"/>
</p:tagLst>
</file>

<file path=ppt/tags/tag3.xml><?xml version="1.0" encoding="utf-8"?>
<p:tagLst xmlns:p="http://schemas.openxmlformats.org/presentationml/2006/main">
  <p:tag name="KSO_WM_DIAGRAM_VIRTUALLY_FRAME" val="{&quot;height&quot;:288.2,&quot;left&quot;:144,&quot;top&quot;:95.76,&quot;width&quot;:565.2}"/>
</p:tagLst>
</file>

<file path=ppt/tags/tag4.xml><?xml version="1.0" encoding="utf-8"?>
<p:tagLst xmlns:p="http://schemas.openxmlformats.org/presentationml/2006/main">
  <p:tag name="KSO_WM_DIAGRAM_VIRTUALLY_FRAME" val="{&quot;height&quot;:288.2,&quot;left&quot;:144,&quot;top&quot;:95.76,&quot;width&quot;:565.2}"/>
</p:tagLst>
</file>

<file path=ppt/tags/tag5.xml><?xml version="1.0" encoding="utf-8"?>
<p:tagLst xmlns:p="http://schemas.openxmlformats.org/presentationml/2006/main">
  <p:tag name="KSO_WM_DIAGRAM_VIRTUALLY_FRAME" val="{&quot;height&quot;:288.2,&quot;left&quot;:144,&quot;top&quot;:95.76,&quot;width&quot;:565.2}"/>
</p:tagLst>
</file>

<file path=ppt/tags/tag6.xml><?xml version="1.0" encoding="utf-8"?>
<p:tagLst xmlns:p="http://schemas.openxmlformats.org/presentationml/2006/main">
  <p:tag name="KSO_WM_DIAGRAM_VIRTUALLY_FRAME" val="{&quot;height&quot;:288.2,&quot;left&quot;:144,&quot;top&quot;:95.76,&quot;width&quot;:565.2}"/>
</p:tagLst>
</file>

<file path=ppt/tags/tag7.xml><?xml version="1.0" encoding="utf-8"?>
<p:tagLst xmlns:p="http://schemas.openxmlformats.org/presentationml/2006/main">
  <p:tag name="KSO_WM_DIAGRAM_VIRTUALLY_FRAME" val="{&quot;height&quot;:288.2,&quot;left&quot;:144,&quot;top&quot;:95.76,&quot;width&quot;:565.2}"/>
</p:tagLst>
</file>

<file path=ppt/tags/tag8.xml><?xml version="1.0" encoding="utf-8"?>
<p:tagLst xmlns:p="http://schemas.openxmlformats.org/presentationml/2006/main">
  <p:tag name="KSO_WM_DIAGRAM_VIRTUALLY_FRAME" val="{&quot;height&quot;:288.2,&quot;left&quot;:144,&quot;top&quot;:95.76,&quot;width&quot;:565.2}"/>
</p:tagLst>
</file>

<file path=ppt/tags/tag9.xml><?xml version="1.0" encoding="utf-8"?>
<p:tagLst xmlns:p="http://schemas.openxmlformats.org/presentationml/2006/main">
  <p:tag name="KSO_WM_DIAGRAM_VIRTUALLY_FRAME" val="{&quot;height&quot;:288.2,&quot;left&quot;:144,&quot;top&quot;:95.76,&quot;width&quot;:565.2}"/>
</p:tagLst>
</file>

<file path=ppt/tags/tag10.xml><?xml version="1.0" encoding="utf-8"?>
<p:tagLst xmlns:p="http://schemas.openxmlformats.org/presentationml/2006/main">
  <p:tag name="KSO_WM_DIAGRAM_VIRTUALLY_FRAME" val="{&quot;height&quot;:288.2,&quot;left&quot;:144,&quot;top&quot;:95.76,&quot;width&quot;:565.2}"/>
</p:tagLst>
</file>

<file path=ppt/tags/tag11.xml><?xml version="1.0" encoding="utf-8"?>
<p:tagLst xmlns:p="http://schemas.openxmlformats.org/presentationml/2006/main">
  <p:tag name="KSO_WM_DIAGRAM_VIRTUALLY_FRAME" val="{&quot;height&quot;:288.2,&quot;left&quot;:144,&quot;top&quot;:95.76,&quot;width&quot;:565.2}"/>
</p:tagLst>
</file>

<file path=ppt/tags/tag12.xml><?xml version="1.0" encoding="utf-8"?>
<p:tagLst xmlns:p="http://schemas.openxmlformats.org/presentationml/2006/main">
  <p:tag name="KSO_WM_DIAGRAM_VIRTUALLY_FRAME" val="{&quot;height&quot;:288.2,&quot;left&quot;:144,&quot;top&quot;:95.76,&quot;width&quot;:565.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3416</Words>
  <Application>WPS Presentation</Application>
  <PresentationFormat>Widescreen</PresentationFormat>
  <Paragraphs>273</Paragraphs>
  <Slides>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5" baseType="lpstr">
      <vt:lpstr>Arial</vt:lpstr>
      <vt:lpstr>SimSun</vt:lpstr>
      <vt:lpstr>Wingdings</vt:lpstr>
      <vt:lpstr>Aptos</vt:lpstr>
      <vt:lpstr>Segoe UI</vt:lpstr>
      <vt:lpstr>Georgia</vt:lpstr>
      <vt:lpstr>Microsoft YaHei</vt:lpstr>
      <vt:lpstr>Arial Unicode MS</vt:lpstr>
      <vt:lpstr>Aptos Display</vt:lpstr>
      <vt:lpstr>Segoe UI Variable Display</vt:lpstr>
      <vt:lpstr>Calibri Light</vt:lpstr>
      <vt:lpstr>Calibri</vt:lpstr>
      <vt:lpstr>Aptos</vt:lpstr>
      <vt:lpstr>Georgia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BHONGIRI VAISHNAVI 2420090026</cp:lastModifiedBy>
  <cp:revision>36</cp:revision>
  <dcterms:created xsi:type="dcterms:W3CDTF">2026-08-08T06:33:00Z</dcterms:created>
  <dcterms:modified xsi:type="dcterms:W3CDTF">2026-10-01T09:25:20Z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303F2545D30C42F3B25F93934897C7DA_13</vt:lpwstr>
  </property>
  <property fmtid="{D5CDD505-2E9C-101B-9397-08002B2CF9AE}" pid="3" name="KSOProductBuildVer">
    <vt:lpwstr>2057-12.2.0.23206</vt:lpwstr>
  </property>
</Properties>
</file>