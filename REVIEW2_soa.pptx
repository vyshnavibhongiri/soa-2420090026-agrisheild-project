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rgbClr val="168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27432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SOA Programming
&amp; Microservices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965960"/>
            <a:ext cx="2743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DAF2E0"/>
                </a:solidFill>
                <a:latin typeface="Aptos"/>
              </a:rPr>
              <a:t>PROJECT REVIEW–2</a:t>
            </a:r>
            <a:endParaRPr sz="1300" b="1">
              <a:solidFill>
                <a:srgbClr val="DAF2E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2395728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September Deliverable</a:t>
            </a:r>
            <a:endParaRPr sz="11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51960" y="960120"/>
            <a:ext cx="7040880" cy="1965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1B2D22"/>
                </a:solidFill>
                <a:latin typeface="Aptos"/>
              </a:rPr>
              <a:t>AI-Powered Smart
Agriculture Monitoring
and Crop Disease
Prediction Platform</a:t>
            </a:r>
            <a:endParaRPr sz="29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70248" y="3246120"/>
            <a:ext cx="66751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68341"/>
                </a:solidFill>
                <a:latin typeface="Aptos"/>
              </a:rPr>
              <a:t>1. Project Design
2. Methodology Adopted
3. Technical Soundness of the Project</a:t>
            </a:r>
            <a:endParaRPr sz="15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51960" y="4389120"/>
            <a:ext cx="6995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4645152"/>
            <a:ext cx="4389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B2D22"/>
                </a:solidFill>
                <a:latin typeface="Aptos"/>
              </a:rPr>
              <a:t>B. Vaishnavi – 2420090026
S. Lahari Krishna – 2420090055</a:t>
            </a:r>
            <a:endParaRPr sz="13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66760" y="4663440"/>
            <a:ext cx="24688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566C5E"/>
                </a:solidFill>
                <a:latin typeface="Aptos"/>
              </a:rPr>
              <a:t>Under the Guidance of Ms. Navyatha</a:t>
            </a:r>
            <a:endParaRPr sz="11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0" y="6172200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168341"/>
                </a:solidFill>
                <a:latin typeface="Aptos"/>
              </a:rPr>
              <a:t>2026–2027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68341"/>
                </a:solidFill>
                <a:latin typeface="Aptos"/>
              </a:rPr>
              <a:t>02</a:t>
            </a:r>
            <a:endParaRPr sz="11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B2D22"/>
                </a:solidFill>
                <a:latin typeface="Aptos"/>
              </a:rPr>
              <a:t>1. Project Design</a:t>
            </a:r>
            <a:endParaRPr sz="25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0704" y="768096"/>
            <a:ext cx="10332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System architecture and major modules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0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91640" cy="640080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640080"/>
          </a:xfrm>
          <a:prstGeom prst="rect">
            <a:avLst/>
          </a:prstGeom>
          <a:solidFill>
            <a:srgbClr val="168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90472"/>
            <a:ext cx="14173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Farmer / Browser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697480" y="1417320"/>
            <a:ext cx="2148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1417320"/>
            <a:ext cx="64008" cy="640080"/>
          </a:xfrm>
          <a:prstGeom prst="rect">
            <a:avLst/>
          </a:prstGeom>
          <a:solidFill>
            <a:srgbClr val="41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490472"/>
            <a:ext cx="18745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React Frontend
Dashboard + Prediction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303520" y="1417320"/>
            <a:ext cx="2103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1417320"/>
            <a:ext cx="64008" cy="640080"/>
          </a:xfrm>
          <a:prstGeom prst="rect">
            <a:avLst/>
          </a:prstGeom>
          <a:solidFill>
            <a:srgbClr val="168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8112" y="1490472"/>
            <a:ext cx="1828799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FastAPI Backend
REST + Logic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09560" y="1417320"/>
            <a:ext cx="20574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1417320"/>
            <a:ext cx="64008" cy="640080"/>
          </a:xfrm>
          <a:prstGeom prst="rect">
            <a:avLst/>
          </a:prstGeom>
          <a:solidFill>
            <a:srgbClr val="E29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490472"/>
            <a:ext cx="17830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AI Service
Disease Prediction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87000" y="1417320"/>
            <a:ext cx="1280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87000" y="1417320"/>
            <a:ext cx="64008" cy="640080"/>
          </a:xfrm>
          <a:prstGeom prst="rect">
            <a:avLst/>
          </a:prstGeom>
          <a:solidFill>
            <a:srgbClr val="168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51592" y="1490472"/>
            <a:ext cx="1005839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1B2D22"/>
                </a:solidFill>
                <a:latin typeface="Aptos"/>
              </a:rPr>
              <a:t>PostgreSQL
History</a:t>
            </a:r>
            <a:endParaRPr sz="1050" b="1">
              <a:solidFill>
                <a:srgbClr val="1B2D22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1737360"/>
            <a:ext cx="411480" cy="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46320" y="1737360"/>
            <a:ext cx="457200" cy="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06640" y="1737360"/>
            <a:ext cx="502920" cy="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966960" y="1737360"/>
            <a:ext cx="320040" cy="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97280" y="2971800"/>
            <a:ext cx="2971800" cy="822960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" y="2971800"/>
            <a:ext cx="64008" cy="822960"/>
          </a:xfrm>
          <a:prstGeom prst="rect">
            <a:avLst/>
          </a:prstGeom>
          <a:solidFill>
            <a:srgbClr val="41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61872" y="3090418"/>
            <a:ext cx="2299970" cy="6223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Automatic Weather API
Temperature • Humidity • Rain</a:t>
            </a:r>
            <a:endParaRPr sz="1150" b="1">
              <a:solidFill>
                <a:srgbClr val="1B2D22"/>
              </a:solidFill>
              <a:latin typeface="Aptos"/>
            </a:endParaRPr>
          </a:p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 • Cloud • Wind</a:t>
            </a:r>
            <a:endParaRPr sz="11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617720" y="2971800"/>
            <a:ext cx="3063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17720" y="2971800"/>
            <a:ext cx="64008" cy="822960"/>
          </a:xfrm>
          <a:prstGeom prst="rect">
            <a:avLst/>
          </a:prstGeom>
          <a:solidFill>
            <a:srgbClr val="E29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82185" y="3079115"/>
            <a:ext cx="2738755" cy="604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Recommendation Engine
Disease + Environment → Action + Why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29600" y="2971800"/>
            <a:ext cx="2743200" cy="822960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2971800"/>
            <a:ext cx="64008" cy="822960"/>
          </a:xfrm>
          <a:prstGeom prst="rect">
            <a:avLst/>
          </a:prstGeom>
          <a:solidFill>
            <a:srgbClr val="168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3044952"/>
            <a:ext cx="246888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Dashboard / History
Analytics + Stored Decisions</a:t>
            </a:r>
            <a:endParaRPr sz="1150" b="1">
              <a:solidFill>
                <a:srgbClr val="1B2D22"/>
              </a:solidFill>
              <a:latin typeface="Aptos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2606040" y="2057400"/>
            <a:ext cx="0" cy="91440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55080" y="2057400"/>
            <a:ext cx="0" cy="91440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555480" y="2057400"/>
            <a:ext cx="0" cy="91440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2960" y="434340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68341"/>
                </a:solidFill>
                <a:latin typeface="Aptos"/>
              </a:rPr>
              <a:t>Core design principle</a:t>
            </a:r>
            <a:endParaRPr sz="11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2960" y="4709160"/>
            <a:ext cx="105156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B2D22"/>
                </a:solidFill>
                <a:latin typeface="Aptos"/>
              </a:rPr>
              <a:t>Separate UI, API/business logic, AI inference, external weather data, recommendation logic and database persistence.</a:t>
            </a:r>
            <a:endParaRPr sz="15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2960" y="5532120"/>
            <a:ext cx="10241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566C5E"/>
                </a:solidFill>
                <a:latin typeface="Aptos"/>
              </a:rPr>
              <a:t>This design supports modular development, testing and later cloud deployment.</a:t>
            </a:r>
            <a:endParaRPr sz="11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66C5E"/>
                </a:solidFill>
                <a:latin typeface="Aptos"/>
              </a:rPr>
              <a:t>AI-Powered Smart Agriculture Monitoring and Crop Disease Prediction Platform</a:t>
            </a:r>
            <a:endParaRPr sz="8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247120" y="6455664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66C5E"/>
                </a:solidFill>
                <a:latin typeface="Aptos"/>
              </a:rPr>
              <a:t>2</a:t>
            </a:r>
            <a:endParaRPr sz="800" b="1">
              <a:solidFill>
                <a:srgbClr val="566C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68341"/>
                </a:solidFill>
                <a:latin typeface="Aptos"/>
              </a:rPr>
              <a:t>03</a:t>
            </a:r>
            <a:endParaRPr sz="11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B2D22"/>
                </a:solidFill>
                <a:latin typeface="Aptos"/>
              </a:rPr>
              <a:t>1. Project Design — Functional Modules</a:t>
            </a:r>
            <a:endParaRPr sz="25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0704" y="768096"/>
            <a:ext cx="10332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Modules directly support the farmer workflow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0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600200"/>
            <a:ext cx="164592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18488"/>
            <a:ext cx="1645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Authentication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2057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Login / registration</a:t>
            </a:r>
            <a:endParaRPr sz="11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1600200"/>
            <a:ext cx="164592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618488"/>
            <a:ext cx="1645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Dashboard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11880" y="2194560"/>
            <a:ext cx="2057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Crop, weather and alert summary</a:t>
            </a:r>
            <a:endParaRPr sz="11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600200"/>
            <a:ext cx="164592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18488"/>
            <a:ext cx="1645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Image Prediction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1893570" cy="44513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Leaf image → disease +</a:t>
            </a:r>
            <a:endParaRPr sz="1150" b="1">
              <a:solidFill>
                <a:srgbClr val="1B2D22"/>
              </a:solidFill>
              <a:latin typeface="Aptos"/>
            </a:endParaRPr>
          </a:p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 </a:t>
            </a:r>
            <a:r>
              <a:rPr lang="en-IN" sz="1150" b="1">
                <a:solidFill>
                  <a:srgbClr val="1B2D22"/>
                </a:solidFill>
                <a:latin typeface="Aptos"/>
              </a:rPr>
              <a:t>                      </a:t>
            </a:r>
            <a:r>
              <a:rPr sz="1150" b="1">
                <a:solidFill>
                  <a:srgbClr val="1B2D22"/>
                </a:solidFill>
                <a:latin typeface="Aptos"/>
              </a:rPr>
              <a:t> confidence</a:t>
            </a:r>
            <a:endParaRPr sz="11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6839" y="141732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19" y="1600200"/>
            <a:ext cx="164592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618488"/>
            <a:ext cx="1645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Weather Context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89719" y="2194560"/>
            <a:ext cx="2057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Automatic current conditions</a:t>
            </a:r>
            <a:endParaRPr sz="11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" y="324612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59" y="3429000"/>
            <a:ext cx="164592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447288"/>
            <a:ext cx="1645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29D2D"/>
                </a:solidFill>
                <a:latin typeface="Aptos"/>
              </a:rPr>
              <a:t>Recommendations</a:t>
            </a:r>
            <a:endParaRPr sz="1000" b="1">
              <a:solidFill>
                <a:srgbClr val="E29D2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59" y="4023359"/>
            <a:ext cx="1572260" cy="44513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Irrigation, fertilizer, </a:t>
            </a:r>
            <a:endParaRPr sz="1150" b="1">
              <a:solidFill>
                <a:srgbClr val="1B2D22"/>
              </a:solidFill>
              <a:latin typeface="Aptos"/>
            </a:endParaRPr>
          </a:p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disease guidance</a:t>
            </a:r>
            <a:endParaRPr sz="11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29000" y="324612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11880" y="3429000"/>
            <a:ext cx="164592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447288"/>
            <a:ext cx="1645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History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11880" y="4023359"/>
            <a:ext cx="1786255" cy="44513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Past predictions +</a:t>
            </a:r>
            <a:endParaRPr sz="1150" b="1">
              <a:solidFill>
                <a:srgbClr val="1B2D22"/>
              </a:solidFill>
              <a:latin typeface="Aptos"/>
            </a:endParaRPr>
          </a:p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 environmental context</a:t>
            </a:r>
            <a:endParaRPr sz="11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17920" y="324612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3429000"/>
            <a:ext cx="164592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447288"/>
            <a:ext cx="16459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Administration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0" y="4023359"/>
            <a:ext cx="2057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1B2D22"/>
                </a:solidFill>
                <a:latin typeface="Aptos"/>
              </a:rPr>
              <a:t>System statistics</a:t>
            </a:r>
            <a:endParaRPr sz="11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011680" y="5074920"/>
            <a:ext cx="8138160" cy="731520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40280" y="5321808"/>
            <a:ext cx="76809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168341"/>
                </a:solidFill>
                <a:latin typeface="Aptos"/>
              </a:rPr>
              <a:t>Design output: one integrated platform instead of separate disease, weather and recommendation tools.</a:t>
            </a:r>
            <a:endParaRPr sz="12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66C5E"/>
                </a:solidFill>
                <a:latin typeface="Aptos"/>
              </a:rPr>
              <a:t>AI-Powered Smart Agriculture Monitoring and Crop Disease Prediction Platform</a:t>
            </a:r>
            <a:endParaRPr sz="8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247120" y="6455664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66C5E"/>
                </a:solidFill>
                <a:latin typeface="Aptos"/>
              </a:rPr>
              <a:t>3</a:t>
            </a:r>
            <a:endParaRPr sz="800" b="1">
              <a:solidFill>
                <a:srgbClr val="566C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68341"/>
                </a:solidFill>
                <a:latin typeface="Aptos"/>
              </a:rPr>
              <a:t>04</a:t>
            </a:r>
            <a:endParaRPr sz="11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B2D22"/>
                </a:solidFill>
                <a:latin typeface="Aptos"/>
              </a:rPr>
              <a:t>2. Methodology Adopted</a:t>
            </a:r>
            <a:endParaRPr sz="25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0704" y="768096"/>
            <a:ext cx="10332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Complete processing methodology from input to decision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0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536192"/>
            <a:ext cx="457200" cy="347472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54480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01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1536192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1B2D22"/>
                </a:solidFill>
                <a:latin typeface="Aptos"/>
              </a:rPr>
              <a:t>Location</a:t>
            </a:r>
            <a:endParaRPr sz="13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" y="2121408"/>
            <a:ext cx="2103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Get farm/user location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7872" y="1536192"/>
            <a:ext cx="457200" cy="347472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554480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02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60520" y="1536192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1B2D22"/>
                </a:solidFill>
                <a:latin typeface="Aptos"/>
              </a:rPr>
              <a:t>Weather</a:t>
            </a:r>
            <a:endParaRPr sz="13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47872" y="2121408"/>
            <a:ext cx="2103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Automatically fetch current conditions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137160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1" y="1536192"/>
            <a:ext cx="457200" cy="347472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1554480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03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0879" y="1536192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1B2D22"/>
                </a:solidFill>
                <a:latin typeface="Aptos"/>
              </a:rPr>
              <a:t>Image</a:t>
            </a:r>
            <a:endParaRPr sz="13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28231" y="2121408"/>
            <a:ext cx="2103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Upload crop leaf image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4000" y="137160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08592" y="1536192"/>
            <a:ext cx="457200" cy="347472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554480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04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21240" y="1536192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1B2D22"/>
                </a:solidFill>
                <a:latin typeface="Aptos"/>
              </a:rPr>
              <a:t>Prediction</a:t>
            </a:r>
            <a:endParaRPr sz="13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08592" y="2121408"/>
            <a:ext cx="2103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Deep-learning disease classification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352044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2" y="3685032"/>
            <a:ext cx="457200" cy="347472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703320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05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80160" y="3685032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1B2D22"/>
                </a:solidFill>
                <a:latin typeface="Aptos"/>
              </a:rPr>
              <a:t>Context</a:t>
            </a:r>
            <a:endParaRPr sz="13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7512" y="4270248"/>
            <a:ext cx="2103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Combine prediction + environment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383280" y="352044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47872" y="3685032"/>
            <a:ext cx="457200" cy="347472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3703320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06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60520" y="3685032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1B2D22"/>
                </a:solidFill>
                <a:latin typeface="Aptos"/>
              </a:rPr>
              <a:t>Explain</a:t>
            </a:r>
            <a:endParaRPr sz="13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47872" y="4270248"/>
            <a:ext cx="2103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Generate recommendation + reason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263640" y="352044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28231" y="3685032"/>
            <a:ext cx="457200" cy="347472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1" y="3703320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07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0879" y="3685032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1B2D22"/>
                </a:solidFill>
                <a:latin typeface="Aptos"/>
              </a:rPr>
              <a:t>Store</a:t>
            </a:r>
            <a:endParaRPr sz="13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28231" y="4270248"/>
            <a:ext cx="2103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Save prediction and context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144000" y="352044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08592" y="3685032"/>
            <a:ext cx="457200" cy="347472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08592" y="3703320"/>
            <a:ext cx="457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08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21240" y="3685032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1B2D22"/>
                </a:solidFill>
                <a:latin typeface="Aptos"/>
              </a:rPr>
              <a:t>Dashboard</a:t>
            </a:r>
            <a:endParaRPr sz="13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308592" y="4270248"/>
            <a:ext cx="2103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Display analytics and history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1">
                <a:solidFill>
                  <a:srgbClr val="168341"/>
                </a:solidFill>
                <a:latin typeface="Aptos"/>
              </a:rPr>
              <a:t>Key change from Review-1 concept: environmental conditions are automatically obtained instead of requiring repeated manual entry.</a:t>
            </a:r>
            <a:endParaRPr sz="115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66C5E"/>
                </a:solidFill>
                <a:latin typeface="Aptos"/>
              </a:rPr>
              <a:t>AI-Powered Smart Agriculture Monitoring and Crop Disease Prediction Platform</a:t>
            </a:r>
            <a:endParaRPr sz="8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247120" y="6455664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66C5E"/>
                </a:solidFill>
                <a:latin typeface="Aptos"/>
              </a:rPr>
              <a:t>4</a:t>
            </a:r>
            <a:endParaRPr sz="800" b="1">
              <a:solidFill>
                <a:srgbClr val="566C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68341"/>
                </a:solidFill>
                <a:latin typeface="Aptos"/>
              </a:rPr>
              <a:t>05</a:t>
            </a:r>
            <a:endParaRPr sz="11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B2D22"/>
                </a:solidFill>
                <a:latin typeface="Aptos"/>
              </a:rPr>
              <a:t>2. Methodology Adopted — AI + Automatic Weather</a:t>
            </a:r>
            <a:endParaRPr sz="25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0704" y="768096"/>
            <a:ext cx="10332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Environmental context is incorporated before recommendation generation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0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920240" cy="685800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64008" cy="685800"/>
          </a:xfrm>
          <a:prstGeom prst="rect">
            <a:avLst/>
          </a:prstGeom>
          <a:solidFill>
            <a:srgbClr val="168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490472"/>
            <a:ext cx="1645920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Leaf Image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57600" y="1417320"/>
            <a:ext cx="2103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417320"/>
            <a:ext cx="64008" cy="685800"/>
          </a:xfrm>
          <a:prstGeom prst="rect">
            <a:avLst/>
          </a:prstGeom>
          <a:solidFill>
            <a:srgbClr val="E29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1" y="1490472"/>
            <a:ext cx="1828799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Deep Learning
Disease Prediction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20840" y="1417320"/>
            <a:ext cx="21945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1417320"/>
            <a:ext cx="64008" cy="685800"/>
          </a:xfrm>
          <a:prstGeom prst="rect">
            <a:avLst/>
          </a:prstGeom>
          <a:solidFill>
            <a:srgbClr val="168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1" y="1490472"/>
            <a:ext cx="1920240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Disease + Confidence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1764792"/>
            <a:ext cx="914400" cy="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1764792"/>
            <a:ext cx="960120" cy="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3337560"/>
            <a:ext cx="1920240" cy="685800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337560"/>
            <a:ext cx="64008" cy="685800"/>
          </a:xfrm>
          <a:prstGeom prst="rect">
            <a:avLst/>
          </a:prstGeom>
          <a:solidFill>
            <a:srgbClr val="41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410712"/>
            <a:ext cx="1645920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Location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657600" y="333756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0" y="3337560"/>
            <a:ext cx="64008" cy="685800"/>
          </a:xfrm>
          <a:prstGeom prst="rect">
            <a:avLst/>
          </a:prstGeom>
          <a:solidFill>
            <a:srgbClr val="41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2191" y="3410712"/>
            <a:ext cx="2286000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Weather API
Temp • RH • Rain • Wind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720840" y="3337560"/>
            <a:ext cx="21945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20840" y="3337560"/>
            <a:ext cx="64008" cy="685800"/>
          </a:xfrm>
          <a:prstGeom prst="rect">
            <a:avLst/>
          </a:prstGeom>
          <a:solidFill>
            <a:srgbClr val="41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85431" y="3410712"/>
            <a:ext cx="1920240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Environmental Context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2743200" y="3685032"/>
            <a:ext cx="914400" cy="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17920" y="3685032"/>
            <a:ext cx="502920" cy="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464040" y="2331720"/>
            <a:ext cx="2011680" cy="914400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64040" y="2331720"/>
            <a:ext cx="64008" cy="914400"/>
          </a:xfrm>
          <a:prstGeom prst="rect">
            <a:avLst/>
          </a:prstGeom>
          <a:solidFill>
            <a:srgbClr val="E29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8632" y="2404872"/>
            <a:ext cx="1737360" cy="8046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B2D22"/>
                </a:solidFill>
                <a:latin typeface="Aptos"/>
              </a:rPr>
              <a:t>Recommendation Engine
Action + Why</a:t>
            </a:r>
            <a:endParaRPr sz="1100" b="1">
              <a:solidFill>
                <a:srgbClr val="1B2D22"/>
              </a:solidFill>
              <a:latin typeface="Aptos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8915400" y="1764792"/>
            <a:ext cx="548640" cy="1024128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915400" y="2788920"/>
            <a:ext cx="548640" cy="896112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203960" y="4728845"/>
            <a:ext cx="9906000" cy="1031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5184648"/>
            <a:ext cx="7955279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1">
                <a:solidFill>
                  <a:srgbClr val="1B2D22"/>
                </a:solidFill>
                <a:latin typeface="Aptos"/>
              </a:rPr>
              <a:t>Example: High humidity + detected disease → closer monitoring; low soil moisture → irrigation guidance; high heat → avoid heavy fertilizer.</a:t>
            </a:r>
            <a:endParaRPr sz="11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66C5E"/>
                </a:solidFill>
                <a:latin typeface="Aptos"/>
              </a:rPr>
              <a:t>AI-Powered Smart Agriculture Monitoring and Crop Disease Prediction Platform</a:t>
            </a:r>
            <a:endParaRPr sz="8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247120" y="6455664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66C5E"/>
                </a:solidFill>
                <a:latin typeface="Aptos"/>
              </a:rPr>
              <a:t>5</a:t>
            </a:r>
            <a:endParaRPr sz="800" b="1">
              <a:solidFill>
                <a:srgbClr val="566C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68341"/>
                </a:solidFill>
                <a:latin typeface="Aptos"/>
              </a:rPr>
              <a:t>06</a:t>
            </a:r>
            <a:endParaRPr sz="11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B2D22"/>
                </a:solidFill>
                <a:latin typeface="Aptos"/>
              </a:rPr>
              <a:t>2. Methodology Adopted — Explainable AI Recommendations</a:t>
            </a:r>
            <a:endParaRPr sz="25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0704" y="768096"/>
            <a:ext cx="10332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Each recommendation is accompanied by the factors that triggered it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0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132588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13258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4174A6"/>
                </a:solidFill>
                <a:latin typeface="Aptos"/>
              </a:rPr>
              <a:t>INPUT FACTORS</a:t>
            </a:r>
            <a:endParaRPr sz="1000" b="1">
              <a:solidFill>
                <a:srgbClr val="4174A6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AI disease prediction</a:t>
            </a:r>
          </a:p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Prediction confidence</a:t>
            </a:r>
          </a:p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Temperature</a:t>
            </a:r>
          </a:p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Humidity</a:t>
            </a:r>
          </a:p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Rain / precipitation</a:t>
            </a:r>
          </a:p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Soil moisture*</a:t>
            </a:r>
          </a:p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Light / radiation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691640"/>
            <a:ext cx="1371600" cy="347472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09928"/>
            <a:ext cx="13716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29D2D"/>
                </a:solidFill>
                <a:latin typeface="Aptos"/>
              </a:rPr>
              <a:t>DECISION LAYER</a:t>
            </a:r>
            <a:endParaRPr sz="1000" b="1">
              <a:solidFill>
                <a:srgbClr val="E29D2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Evaluate environmental thresholds</a:t>
            </a:r>
          </a:p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Consider disease status</a:t>
            </a:r>
          </a:p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Select irrigation guidance</a:t>
            </a:r>
          </a:p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Select fertilizer guidance</a:t>
            </a:r>
          </a:p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Select disease-management guidance</a:t>
            </a:r>
          </a:p>
          <a:p>
            <a:pPr>
              <a:spcAft>
                <a:spcPts val="800"/>
              </a:spcAft>
              <a:defRPr sz="1200">
                <a:solidFill>
                  <a:srgbClr val="566C5E"/>
                </a:solidFill>
                <a:latin typeface="Aptos"/>
              </a:defRPr>
            </a:pPr>
            <a:r>
              <a:t>• Attach explanation / reason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383280" cy="4160520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1691640"/>
            <a:ext cx="16002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09928"/>
            <a:ext cx="16002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EXPLAINABLE OUTPUT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B2D22"/>
                </a:solidFill>
                <a:latin typeface="Aptos"/>
              </a:rPr>
              <a:t>💧 Irrigation</a:t>
            </a:r>
            <a:endParaRPr sz="13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566C5E"/>
                </a:solidFill>
                <a:latin typeface="Aptos"/>
              </a:rPr>
              <a:t>Action + reason</a:t>
            </a:r>
            <a:endParaRPr sz="11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80" y="315468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B2D22"/>
                </a:solidFill>
                <a:latin typeface="Aptos"/>
              </a:rPr>
              <a:t>🌱 Fertilizer</a:t>
            </a:r>
            <a:endParaRPr sz="13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80" y="347472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566C5E"/>
                </a:solidFill>
                <a:latin typeface="Aptos"/>
              </a:rPr>
              <a:t>Action + reason</a:t>
            </a:r>
            <a:endParaRPr sz="11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0" y="3977639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1B2D22"/>
                </a:solidFill>
                <a:latin typeface="Aptos"/>
              </a:rPr>
              <a:t>🛡 Disease management</a:t>
            </a:r>
            <a:endParaRPr sz="13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566C5E"/>
                </a:solidFill>
                <a:latin typeface="Aptos"/>
              </a:rPr>
              <a:t>Action + reason</a:t>
            </a:r>
            <a:endParaRPr sz="11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66C5E"/>
                </a:solidFill>
                <a:latin typeface="Aptos"/>
              </a:rPr>
              <a:t>AI-Powered Smart Agriculture Monitoring and Crop Disease Prediction Platform</a:t>
            </a:r>
            <a:endParaRPr sz="8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47120" y="6455664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66C5E"/>
                </a:solidFill>
                <a:latin typeface="Aptos"/>
              </a:rPr>
              <a:t>6</a:t>
            </a:r>
            <a:endParaRPr sz="800" b="1">
              <a:solidFill>
                <a:srgbClr val="566C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68341"/>
                </a:solidFill>
                <a:latin typeface="Aptos"/>
              </a:rPr>
              <a:t>07</a:t>
            </a:r>
            <a:endParaRPr sz="11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B2D22"/>
                </a:solidFill>
                <a:latin typeface="Aptos"/>
              </a:rPr>
              <a:t>3. Technical Soundness of the Project</a:t>
            </a:r>
            <a:endParaRPr sz="25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0704" y="768096"/>
            <a:ext cx="10332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Technology choices and service responsibilities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0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536192"/>
            <a:ext cx="146304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54480"/>
            <a:ext cx="14630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4174A6"/>
                </a:solidFill>
                <a:latin typeface="Aptos"/>
              </a:rPr>
              <a:t>React + Vite</a:t>
            </a:r>
            <a:endParaRPr sz="1000" b="1">
              <a:solidFill>
                <a:srgbClr val="4174A6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121408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>
                <a:solidFill>
                  <a:srgbClr val="1B2D22"/>
                </a:solidFill>
                <a:latin typeface="Aptos"/>
              </a:rPr>
              <a:t>Frontend and dashboard</a:t>
            </a:r>
            <a:endParaRPr sz="10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83279" y="13716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47872" y="1536192"/>
            <a:ext cx="146304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554480"/>
            <a:ext cx="14630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FastAPI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47872" y="2121408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>
                <a:solidFill>
                  <a:srgbClr val="1B2D22"/>
                </a:solidFill>
                <a:latin typeface="Aptos"/>
              </a:rPr>
              <a:t>REST APIs and business logic</a:t>
            </a:r>
            <a:endParaRPr sz="10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6792" y="1536192"/>
            <a:ext cx="146304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554480"/>
            <a:ext cx="14630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29D2D"/>
                </a:solidFill>
                <a:latin typeface="Aptos"/>
              </a:rPr>
              <a:t>Python AI Service</a:t>
            </a:r>
            <a:endParaRPr sz="1000" b="1">
              <a:solidFill>
                <a:srgbClr val="E29D2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36792" y="2121408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>
                <a:solidFill>
                  <a:srgbClr val="1B2D22"/>
                </a:solidFill>
                <a:latin typeface="Aptos"/>
              </a:rPr>
              <a:t>Disease inference</a:t>
            </a:r>
            <a:endParaRPr sz="10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61119" y="13716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25711" y="1536192"/>
            <a:ext cx="146304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1" y="1554480"/>
            <a:ext cx="14630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PostgreSQL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25711" y="2121408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>
                <a:solidFill>
                  <a:srgbClr val="1B2D22"/>
                </a:solidFill>
                <a:latin typeface="Aptos"/>
              </a:rPr>
              <a:t>Users, predictions, history</a:t>
            </a:r>
            <a:endParaRPr sz="10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306324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" y="3227832"/>
            <a:ext cx="146304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246120"/>
            <a:ext cx="14630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4174A6"/>
                </a:solidFill>
                <a:latin typeface="Aptos"/>
              </a:rPr>
              <a:t>Weather API</a:t>
            </a:r>
            <a:endParaRPr sz="1000" b="1">
              <a:solidFill>
                <a:srgbClr val="4174A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8952" y="3813048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>
                <a:solidFill>
                  <a:srgbClr val="1B2D22"/>
                </a:solidFill>
                <a:latin typeface="Aptos"/>
              </a:rPr>
              <a:t>Automatic environmental context</a:t>
            </a:r>
            <a:endParaRPr sz="10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416424" y="3190875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10912" y="3351022"/>
            <a:ext cx="146304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42332" y="3401695"/>
            <a:ext cx="14630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Docker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43450" y="3813175"/>
            <a:ext cx="1821815" cy="414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B2D22"/>
                </a:solidFill>
                <a:latin typeface="Aptos"/>
              </a:rPr>
              <a:t>Reproducible multi-service deployment</a:t>
            </a:r>
            <a:endParaRPr sz="10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961119" y="306324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25711" y="3227832"/>
            <a:ext cx="146304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25711" y="3246120"/>
            <a:ext cx="14630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GitHub Actions + AWS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25711" y="3813048"/>
            <a:ext cx="2103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>
                <a:solidFill>
                  <a:srgbClr val="1B2D22"/>
                </a:solidFill>
                <a:latin typeface="Aptos"/>
              </a:rPr>
              <a:t>CI/CD and deployment path</a:t>
            </a:r>
            <a:endParaRPr sz="105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874519" y="5166360"/>
            <a:ext cx="8412480" cy="640080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5358384"/>
            <a:ext cx="7955279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168341"/>
                </a:solidFill>
                <a:latin typeface="Aptos"/>
              </a:rPr>
              <a:t>Technical design uses separate services so the frontend, backend, AI and database can be tested and deployed independently.</a:t>
            </a:r>
            <a:endParaRPr sz="11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66C5E"/>
                </a:solidFill>
                <a:latin typeface="Aptos"/>
              </a:rPr>
              <a:t>AI-Powered Smart Agriculture Monitoring and Crop Disease Prediction Platform</a:t>
            </a:r>
            <a:endParaRPr sz="8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247120" y="6455664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66C5E"/>
                </a:solidFill>
                <a:latin typeface="Aptos"/>
              </a:rPr>
              <a:t>7</a:t>
            </a:r>
            <a:endParaRPr sz="800" b="1">
              <a:solidFill>
                <a:srgbClr val="566C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68341"/>
                </a:solidFill>
                <a:latin typeface="Aptos"/>
              </a:rPr>
              <a:t>08</a:t>
            </a:r>
            <a:endParaRPr sz="11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B2D22"/>
                </a:solidFill>
                <a:latin typeface="Aptos"/>
              </a:rPr>
              <a:t>3. Technical Soundness — API &amp; Data Flow</a:t>
            </a:r>
            <a:endParaRPr sz="25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0704" y="768096"/>
            <a:ext cx="10332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Service communication and persistence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0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4630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640080"/>
          </a:xfrm>
          <a:prstGeom prst="rect">
            <a:avLst/>
          </a:prstGeom>
          <a:solidFill>
            <a:srgbClr val="41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90472"/>
            <a:ext cx="11887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React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651760" y="141732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417320"/>
            <a:ext cx="64008" cy="640080"/>
          </a:xfrm>
          <a:prstGeom prst="rect">
            <a:avLst/>
          </a:prstGeom>
          <a:solidFill>
            <a:srgbClr val="168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490472"/>
            <a:ext cx="13716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FastAPI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983480" y="1417320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3480" y="1417320"/>
            <a:ext cx="64008" cy="640080"/>
          </a:xfrm>
          <a:prstGeom prst="rect">
            <a:avLst/>
          </a:prstGeom>
          <a:solidFill>
            <a:srgbClr val="E29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1490472"/>
            <a:ext cx="1463039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AI /predict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406640" y="141732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1417320"/>
            <a:ext cx="64008" cy="640080"/>
          </a:xfrm>
          <a:prstGeom prst="rect">
            <a:avLst/>
          </a:prstGeom>
          <a:solidFill>
            <a:srgbClr val="168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1" y="1490472"/>
            <a:ext cx="15544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PostgreSQL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875520" y="1417320"/>
            <a:ext cx="1645920" cy="640080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5520" y="1417320"/>
            <a:ext cx="64008" cy="640080"/>
          </a:xfrm>
          <a:prstGeom prst="rect">
            <a:avLst/>
          </a:prstGeom>
          <a:solidFill>
            <a:srgbClr val="41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0112" y="1490472"/>
            <a:ext cx="13716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B2D22"/>
                </a:solidFill>
                <a:latin typeface="Aptos"/>
              </a:rPr>
              <a:t>Dashboard</a:t>
            </a:r>
            <a:endParaRPr sz="1200" b="1">
              <a:solidFill>
                <a:srgbClr val="1B2D22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2103120" y="1737360"/>
            <a:ext cx="548640" cy="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97680" y="1737360"/>
            <a:ext cx="685800" cy="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20840" y="1737360"/>
            <a:ext cx="685800" cy="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5440" y="1737360"/>
            <a:ext cx="640080" cy="0"/>
          </a:xfrm>
          <a:prstGeom prst="line">
            <a:avLst/>
          </a:prstGeom>
          <a:ln w="25400">
            <a:solidFill>
              <a:srgbClr val="168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1520" y="2606040"/>
            <a:ext cx="50749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" y="2834640"/>
            <a:ext cx="1554480" cy="347472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2852928"/>
            <a:ext cx="155448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KEY API OPERATIONS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0120" y="3337560"/>
            <a:ext cx="43891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66C5E"/>
                </a:solidFill>
                <a:latin typeface="Aptos"/>
              </a:defRPr>
            </a:pPr>
            <a:r>
              <a:t>• Authentication / login</a:t>
            </a:r>
          </a:p>
          <a:p>
            <a:pPr>
              <a:spcAft>
                <a:spcPts val="500"/>
              </a:spcAft>
              <a:defRPr sz="1100">
                <a:solidFill>
                  <a:srgbClr val="566C5E"/>
                </a:solidFill>
                <a:latin typeface="Aptos"/>
              </a:defRPr>
            </a:pPr>
            <a:r>
              <a:t>• Environment data</a:t>
            </a:r>
          </a:p>
          <a:p>
            <a:pPr>
              <a:spcAft>
                <a:spcPts val="500"/>
              </a:spcAft>
              <a:defRPr sz="1100">
                <a:solidFill>
                  <a:srgbClr val="566C5E"/>
                </a:solidFill>
                <a:latin typeface="Aptos"/>
              </a:defRPr>
            </a:pPr>
            <a:r>
              <a:t>• Image prediction</a:t>
            </a:r>
          </a:p>
          <a:p>
            <a:pPr>
              <a:spcAft>
                <a:spcPts val="500"/>
              </a:spcAft>
              <a:defRPr sz="1100">
                <a:solidFill>
                  <a:srgbClr val="566C5E"/>
                </a:solidFill>
                <a:latin typeface="Aptos"/>
              </a:defRPr>
            </a:pPr>
            <a:r>
              <a:t>• Prediction history</a:t>
            </a:r>
          </a:p>
          <a:p>
            <a:pPr>
              <a:spcAft>
                <a:spcPts val="500"/>
              </a:spcAft>
              <a:defRPr sz="1100">
                <a:solidFill>
                  <a:srgbClr val="566C5E"/>
                </a:solidFill>
                <a:latin typeface="Aptos"/>
              </a:defRPr>
            </a:pPr>
            <a:r>
              <a:t>• Dashboard analytics</a:t>
            </a:r>
          </a:p>
          <a:p>
            <a:pPr>
              <a:spcAft>
                <a:spcPts val="500"/>
              </a:spcAft>
              <a:defRPr sz="1100">
                <a:solidFill>
                  <a:srgbClr val="566C5E"/>
                </a:solidFill>
                <a:latin typeface="Aptos"/>
              </a:defRPr>
            </a:pPr>
            <a:r>
              <a:t>• Administration statistics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2606040"/>
            <a:ext cx="53035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55080" y="2834640"/>
            <a:ext cx="141732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852928"/>
            <a:ext cx="14173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4174A6"/>
                </a:solidFill>
                <a:latin typeface="Aptos"/>
              </a:rPr>
              <a:t>PERSISTED DATA</a:t>
            </a:r>
            <a:endParaRPr sz="1000" b="1">
              <a:solidFill>
                <a:srgbClr val="4174A6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55080" y="3337560"/>
            <a:ext cx="45720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66C5E"/>
                </a:solidFill>
                <a:latin typeface="Aptos"/>
              </a:defRPr>
            </a:pPr>
            <a:r>
              <a:t>• User identity</a:t>
            </a:r>
          </a:p>
          <a:p>
            <a:pPr>
              <a:spcAft>
                <a:spcPts val="500"/>
              </a:spcAft>
              <a:defRPr sz="1100">
                <a:solidFill>
                  <a:srgbClr val="566C5E"/>
                </a:solidFill>
                <a:latin typeface="Aptos"/>
              </a:defRPr>
            </a:pPr>
            <a:r>
              <a:t>• Disease + confidence</a:t>
            </a:r>
          </a:p>
          <a:p>
            <a:pPr>
              <a:spcAft>
                <a:spcPts val="500"/>
              </a:spcAft>
              <a:defRPr sz="1100">
                <a:solidFill>
                  <a:srgbClr val="566C5E"/>
                </a:solidFill>
                <a:latin typeface="Aptos"/>
              </a:defRPr>
            </a:pPr>
            <a:r>
              <a:t>• Weather values at analysis time</a:t>
            </a:r>
          </a:p>
          <a:p>
            <a:pPr>
              <a:spcAft>
                <a:spcPts val="500"/>
              </a:spcAft>
              <a:defRPr sz="1100">
                <a:solidFill>
                  <a:srgbClr val="566C5E"/>
                </a:solidFill>
                <a:latin typeface="Aptos"/>
              </a:defRPr>
            </a:pPr>
            <a:r>
              <a:t>• Recommendation text</a:t>
            </a:r>
          </a:p>
          <a:p>
            <a:pPr>
              <a:spcAft>
                <a:spcPts val="500"/>
              </a:spcAft>
              <a:defRPr sz="1100">
                <a:solidFill>
                  <a:srgbClr val="566C5E"/>
                </a:solidFill>
                <a:latin typeface="Aptos"/>
              </a:defRPr>
            </a:pPr>
            <a:r>
              <a:t>• Uploaded image reference</a:t>
            </a:r>
          </a:p>
          <a:p>
            <a:pPr>
              <a:spcAft>
                <a:spcPts val="500"/>
              </a:spcAft>
              <a:defRPr sz="1100">
                <a:solidFill>
                  <a:srgbClr val="566C5E"/>
                </a:solidFill>
                <a:latin typeface="Aptos"/>
              </a:defRPr>
            </a:pPr>
            <a:r>
              <a:t>• Historical prediction 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5669280"/>
            <a:ext cx="8229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168341"/>
                </a:solidFill>
                <a:latin typeface="Aptos"/>
              </a:rPr>
              <a:t>Technical outcome: traceable prediction → context → recommendation → history.</a:t>
            </a:r>
            <a:endParaRPr sz="12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66C5E"/>
                </a:solidFill>
                <a:latin typeface="Aptos"/>
              </a:rPr>
              <a:t>AI-Powered Smart Agriculture Monitoring and Crop Disease Prediction Platform</a:t>
            </a:r>
            <a:endParaRPr sz="8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47120" y="6455664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66C5E"/>
                </a:solidFill>
                <a:latin typeface="Aptos"/>
              </a:rPr>
              <a:t>8</a:t>
            </a:r>
            <a:endParaRPr sz="800" b="1">
              <a:solidFill>
                <a:srgbClr val="566C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68341"/>
                </a:solidFill>
                <a:latin typeface="Aptos"/>
              </a:rPr>
              <a:t>10</a:t>
            </a:r>
            <a:endParaRPr sz="11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46888"/>
            <a:ext cx="10058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1B2D22"/>
                </a:solidFill>
                <a:latin typeface="Aptos"/>
              </a:rPr>
              <a:t>Review–2 Summary</a:t>
            </a:r>
            <a:endParaRPr sz="25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0704" y="768096"/>
            <a:ext cx="10332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566C5E"/>
                </a:solidFill>
                <a:latin typeface="Aptos"/>
              </a:rPr>
              <a:t>Three required areas demonstrated</a:t>
            </a:r>
            <a:endParaRPr sz="10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8288"/>
          </a:xfrm>
          <a:prstGeom prst="rect">
            <a:avLst/>
          </a:prstGeom>
          <a:solidFill>
            <a:srgbClr val="D0E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0241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1737360"/>
            <a:ext cx="54864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55648"/>
            <a:ext cx="5486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68341"/>
                </a:solidFill>
                <a:latin typeface="Aptos"/>
              </a:rPr>
              <a:t>01</a:t>
            </a:r>
            <a:endParaRPr sz="10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11680" y="1645920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B2D22"/>
                </a:solidFill>
                <a:latin typeface="Aptos"/>
              </a:rPr>
              <a:t>Project Design</a:t>
            </a:r>
            <a:endParaRPr sz="15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5852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66C5E"/>
                </a:solidFill>
                <a:latin typeface="Aptos"/>
              </a:rPr>
              <a:t>Modular architecture, functional modules, data flow and dashboard</a:t>
            </a:r>
            <a:endParaRPr sz="11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400" y="2834640"/>
            <a:ext cx="10241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88720" y="3154680"/>
            <a:ext cx="54864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172968"/>
            <a:ext cx="5486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4174A6"/>
                </a:solidFill>
                <a:latin typeface="Aptos"/>
              </a:rPr>
              <a:t>02</a:t>
            </a:r>
            <a:endParaRPr sz="1000" b="1">
              <a:solidFill>
                <a:srgbClr val="4174A6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11680" y="3063240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B2D22"/>
                </a:solidFill>
                <a:latin typeface="Aptos"/>
              </a:rPr>
              <a:t>Methodology Adopted</a:t>
            </a:r>
            <a:endParaRPr sz="15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80" y="3044952"/>
            <a:ext cx="5852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66C5E"/>
                </a:solidFill>
                <a:latin typeface="Aptos"/>
              </a:rPr>
              <a:t>Automatic weather + leaf AI + context analysis + explainable recommendations</a:t>
            </a:r>
            <a:endParaRPr sz="11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400" y="4251960"/>
            <a:ext cx="10241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88720" y="4572000"/>
            <a:ext cx="548640" cy="347472"/>
          </a:xfrm>
          <a:prstGeom prst="roundRect">
            <a:avLst/>
          </a:prstGeom>
          <a:solidFill>
            <a:srgbClr val="EFF7F1"/>
          </a:solidFill>
          <a:ln w="12700">
            <a:solidFill>
              <a:srgbClr val="EF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590288"/>
            <a:ext cx="5486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29D2D"/>
                </a:solidFill>
                <a:latin typeface="Aptos"/>
              </a:rPr>
              <a:t>03</a:t>
            </a:r>
            <a:endParaRPr sz="1000" b="1">
              <a:solidFill>
                <a:srgbClr val="E29D2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11680" y="4480560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B2D22"/>
                </a:solidFill>
                <a:latin typeface="Aptos"/>
              </a:rPr>
              <a:t>Technical Soundness</a:t>
            </a:r>
            <a:endParaRPr sz="1500" b="1">
              <a:solidFill>
                <a:srgbClr val="1B2D22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54880" y="4462272"/>
            <a:ext cx="58521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566C5E"/>
                </a:solidFill>
                <a:latin typeface="Aptos"/>
              </a:rPr>
              <a:t>React, FastAPI, PostgreSQL, AI service, APIs, Docker and validation</a:t>
            </a:r>
            <a:endParaRPr sz="115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011680" y="5806440"/>
            <a:ext cx="8138160" cy="502920"/>
          </a:xfrm>
          <a:prstGeom prst="roundRect">
            <a:avLst/>
          </a:prstGeom>
          <a:solidFill>
            <a:srgbClr val="E5F1E8"/>
          </a:solidFill>
          <a:ln w="12700">
            <a:solidFill>
              <a:srgbClr val="E5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5925312"/>
            <a:ext cx="7772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168341"/>
                </a:solidFill>
                <a:latin typeface="Aptos"/>
              </a:rPr>
              <a:t>Design → Methodology → Technical implementation → Demonstrable decision-support system</a:t>
            </a:r>
            <a:endParaRPr sz="1100" b="1">
              <a:solidFill>
                <a:srgbClr val="16834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66C5E"/>
                </a:solidFill>
                <a:latin typeface="Aptos"/>
              </a:rPr>
              <a:t>AI-Powered Smart Agriculture Monitoring and Crop Disease Prediction Platform</a:t>
            </a:r>
            <a:endParaRPr sz="800" b="0">
              <a:solidFill>
                <a:srgbClr val="566C5E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47120" y="6455664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566C5E"/>
                </a:solidFill>
                <a:latin typeface="Aptos"/>
              </a:rPr>
              <a:t>10</a:t>
            </a:r>
            <a:endParaRPr sz="800" b="1">
              <a:solidFill>
                <a:srgbClr val="566C5E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4916</Words>
  <Application>WPS Presentation</Application>
  <PresentationFormat>On-screen Show (4:3)</PresentationFormat>
  <Paragraphs>331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BHONGIRI VAISHNAVI 2420090026</cp:lastModifiedBy>
  <cp:revision>2</cp:revision>
  <dcterms:created xsi:type="dcterms:W3CDTF">2013-01-27T09:14:00Z</dcterms:created>
  <dcterms:modified xsi:type="dcterms:W3CDTF">2026-10-01T08:12:35Z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548F29648E734E5ABD27A742A2E59A16_13</vt:lpwstr>
  </property>
  <property fmtid="{D5CDD505-2E9C-101B-9397-08002B2CF9AE}" pid="3" name="KSOProductBuildVer">
    <vt:lpwstr>2057-12.2.0.23206</vt:lpwstr>
  </property>
</Properties>
</file>