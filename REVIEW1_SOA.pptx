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2" r:id="rId4"/>
    <p:sldId id="707" r:id="rId6"/>
    <p:sldId id="257" r:id="rId7"/>
    <p:sldId id="903" r:id="rId8"/>
    <p:sldId id="902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1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sz="900" b="1">
                <a:solidFill>
                  <a:srgbClr val="696969"/>
                </a:solidFill>
                <a:latin typeface="Aptos"/>
              </a:rPr>
              <a:t>SOA Programming &amp; Microservices • Review-1</a:t>
            </a:r>
            <a:endParaRPr sz="900" b="1">
              <a:solidFill>
                <a:srgbClr val="696969"/>
              </a:solidFill>
              <a:latin typeface="Aptos"/>
            </a:endParaRP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8187" y="810857"/>
            <a:ext cx="1071562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alt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Poppins" pitchFamily="2" charset="77"/>
              </a:rPr>
              <a:t>AgriShield – Smart Crop &amp; Farmer Support System</a:t>
            </a:r>
            <a:endParaRPr kumimoji="0" lang="en-US" altLang="en-GB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2800" b="1">
                <a:solidFill>
                  <a:srgbClr val="2D2D2D"/>
                </a:solidFill>
                <a:latin typeface="Georgia" panose="02040502050405020303"/>
              </a:rPr>
              <a:t>SOA Project Review-1</a:t>
            </a:r>
            <a:endParaRPr sz="2800" b="1">
              <a:solidFill>
                <a:srgbClr val="2D2D2D"/>
              </a:solidFill>
              <a:latin typeface="Georgia" panose="02040502050405020303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94360" y="4160520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D23737"/>
                </a:solidFill>
                <a:latin typeface="Aptos"/>
              </a:rPr>
              <a:t>Under the Guidance of</a:t>
            </a:r>
            <a:endParaRPr sz="1600" b="1">
              <a:solidFill>
                <a:srgbClr val="D23737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4360" y="4498848"/>
            <a:ext cx="4480560" cy="9601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2D2D2D"/>
                </a:solidFill>
                <a:latin typeface="Aptos"/>
              </a:rPr>
              <a:t>Ms. Navyatha
Department of Computer Science and Engineering
KLH CSE Bowrampet Campus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315200" y="4160520"/>
            <a:ext cx="40233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D23737"/>
                </a:solidFill>
                <a:latin typeface="Aptos"/>
              </a:rPr>
              <a:t>Team Members</a:t>
            </a:r>
            <a:endParaRPr sz="1600" b="1">
              <a:solidFill>
                <a:srgbClr val="D23737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315200" y="4498848"/>
            <a:ext cx="4023360" cy="9601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2D2D2D"/>
                </a:solidFill>
                <a:latin typeface="Aptos"/>
              </a:rPr>
              <a:t>Vaishnavi B — 2420090026
Lahari Krishna S — 2420090055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57600" y="2788920"/>
            <a:ext cx="429768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600" b="1">
                <a:solidFill>
                  <a:srgbClr val="D23737"/>
                </a:solidFill>
                <a:latin typeface="Aptos"/>
              </a:rPr>
              <a:t>26 August 2026</a:t>
            </a:r>
            <a:endParaRPr sz="1600" b="1">
              <a:solidFill>
                <a:srgbClr val="D23737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383280" y="3136392"/>
            <a:ext cx="484632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1">
                <a:solidFill>
                  <a:srgbClr val="0B76C5"/>
                </a:solidFill>
                <a:latin typeface="Aptos"/>
              </a:rPr>
              <a:t>SOA Programming and Microservices (24SDCS03)</a:t>
            </a:r>
            <a:endParaRPr sz="1200" b="1">
              <a:solidFill>
                <a:srgbClr val="0B76C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900" b="1">
                <a:solidFill>
                  <a:srgbClr val="2D2D2D"/>
                </a:solidFill>
                <a:latin typeface="Aptos Display"/>
              </a:rPr>
              <a:t>Outline of Project Work</a:t>
            </a:r>
            <a:endParaRPr sz="2900" b="1">
              <a:solidFill>
                <a:srgbClr val="2D2D2D"/>
              </a:solidFill>
              <a:latin typeface="Aptos Display"/>
            </a:endParaRPr>
          </a:p>
        </p:txBody>
      </p:sp>
      <p:graphicFrame>
        <p:nvGraphicFramePr>
          <p:cNvPr id="26" name="Diagram 25"/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417320" y="1207008"/>
            <a:ext cx="4709160" cy="438912"/>
          </a:xfrm>
          <a:prstGeom prst="rect">
            <a:avLst/>
          </a:prstGeom>
          <a:solidFill>
            <a:srgbClr val="2D2D2D"/>
          </a:solidFill>
          <a:ln w="15240">
            <a:solidFill>
              <a:srgbClr val="F2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18488" y="1261872"/>
            <a:ext cx="42519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Introduction &amp; Problem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581912" y="1645920"/>
            <a:ext cx="4709160" cy="438912"/>
          </a:xfrm>
          <a:prstGeom prst="rect">
            <a:avLst/>
          </a:prstGeom>
          <a:solidFill>
            <a:srgbClr val="2D2D2D"/>
          </a:solidFill>
          <a:ln w="15240">
            <a:solidFill>
              <a:srgbClr val="F2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3080" y="1700784"/>
            <a:ext cx="42519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Project Objectives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746504" y="2084832"/>
            <a:ext cx="4709160" cy="438912"/>
          </a:xfrm>
          <a:prstGeom prst="rect">
            <a:avLst/>
          </a:prstGeom>
          <a:solidFill>
            <a:srgbClr val="2D2D2D"/>
          </a:solidFill>
          <a:ln w="15240">
            <a:solidFill>
              <a:srgbClr val="F2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47672" y="2139696"/>
            <a:ext cx="42519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Literature Context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911095" y="2523744"/>
            <a:ext cx="4709160" cy="438912"/>
          </a:xfrm>
          <a:prstGeom prst="rect">
            <a:avLst/>
          </a:prstGeom>
          <a:solidFill>
            <a:srgbClr val="2D2D2D"/>
          </a:solidFill>
          <a:ln w="15240">
            <a:solidFill>
              <a:srgbClr val="F2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12264" y="2578608"/>
            <a:ext cx="42519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Problem Gap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75688" y="2962656"/>
            <a:ext cx="4709160" cy="438912"/>
          </a:xfrm>
          <a:prstGeom prst="rect">
            <a:avLst/>
          </a:prstGeom>
          <a:solidFill>
            <a:srgbClr val="2D2D2D"/>
          </a:solidFill>
          <a:ln w="15240">
            <a:solidFill>
              <a:srgbClr val="F2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76856" y="3017520"/>
            <a:ext cx="42519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Innovation &amp; Novelty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240280" y="3401568"/>
            <a:ext cx="4709160" cy="438912"/>
          </a:xfrm>
          <a:prstGeom prst="rect">
            <a:avLst/>
          </a:prstGeom>
          <a:solidFill>
            <a:srgbClr val="2D2D2D"/>
          </a:solidFill>
          <a:ln w="15240">
            <a:solidFill>
              <a:srgbClr val="F2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41448" y="3456432"/>
            <a:ext cx="42519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Feasibility &amp; Project Plan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404872" y="3840480"/>
            <a:ext cx="4709160" cy="438912"/>
          </a:xfrm>
          <a:prstGeom prst="rect">
            <a:avLst/>
          </a:prstGeom>
          <a:solidFill>
            <a:srgbClr val="2D2D2D"/>
          </a:solidFill>
          <a:ln w="15240">
            <a:solidFill>
              <a:srgbClr val="F2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06040" y="3895344"/>
            <a:ext cx="42519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Conclusion &amp; Future Work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569464" y="4279392"/>
            <a:ext cx="4709160" cy="438912"/>
          </a:xfrm>
          <a:prstGeom prst="rect">
            <a:avLst/>
          </a:prstGeom>
          <a:solidFill>
            <a:srgbClr val="2D2D2D"/>
          </a:solidFill>
          <a:ln w="15240">
            <a:solidFill>
              <a:srgbClr val="F2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70632" y="4334255"/>
            <a:ext cx="42519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References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2D2D2D"/>
                </a:solidFill>
                <a:latin typeface="Aptos Display"/>
              </a:rPr>
              <a:t>Problem Statement</a:t>
            </a:r>
            <a:endParaRPr sz="3100" b="1">
              <a:solidFill>
                <a:srgbClr val="2D2D2D"/>
              </a:solidFill>
              <a:latin typeface="Aptos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325880"/>
            <a:ext cx="52578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983480" cy="34747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D23737"/>
                </a:solidFill>
                <a:latin typeface="Aptos"/>
              </a:rPr>
              <a:t>Current Challenges</a:t>
            </a:r>
            <a:endParaRPr sz="1800" b="1">
              <a:solidFill>
                <a:srgbClr val="D23737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83480" cy="123444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Aptos"/>
              </a:rPr>
              <a:t>• Delayed crop disease detection
• Unpredictable weather conditions
• Inefficient irrigation practices
• Limited access to real-time agricultural insights</a:t>
            </a:r>
            <a:endParaRPr sz="16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80760" y="1325880"/>
            <a:ext cx="52120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4937760" cy="34747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F2BE00"/>
                </a:solidFill>
                <a:latin typeface="Aptos"/>
              </a:rPr>
              <a:t>Impact</a:t>
            </a:r>
            <a:endParaRPr sz="1800" b="1">
              <a:solidFill>
                <a:srgbClr val="F2BE0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4937760" cy="123444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Aptos"/>
              </a:rPr>
              <a:t>• Manual crop inspection is time-consuming
• Increased production costs
• Risk of reduced crop yield
• Farmers need faster, data-driven decisions</a:t>
            </a:r>
            <a:endParaRPr sz="16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" y="3474720"/>
            <a:ext cx="106984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7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10424159" cy="34747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0B76C5"/>
                </a:solidFill>
                <a:latin typeface="Aptos"/>
              </a:rPr>
              <a:t>Proposed Response</a:t>
            </a:r>
            <a:endParaRPr sz="18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9918065" cy="631825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700" b="0">
                <a:solidFill>
                  <a:srgbClr val="2D2D2D"/>
                </a:solidFill>
                <a:latin typeface="Aptos"/>
              </a:rPr>
              <a:t>A unified AI-powered platform combines crop-leaf image analysis with temperature, humidity and</a:t>
            </a:r>
            <a:endParaRPr sz="1700" b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2D2D2D"/>
                </a:solidFill>
                <a:latin typeface="Aptos"/>
              </a:rPr>
              <a:t> soil-moisture data to support disease detection, monitoring and actionable farming recommendations.</a:t>
            </a:r>
            <a:endParaRPr sz="17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241280" cy="5029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800" b="1">
                <a:solidFill>
                  <a:srgbClr val="3E8C4E"/>
                </a:solidFill>
                <a:latin typeface="Aptos"/>
              </a:rPr>
              <a:t>Goal: support precision farming through predictive analytics and real-time agricultural insights.</a:t>
            </a:r>
            <a:endParaRPr sz="1800" b="1">
              <a:solidFill>
                <a:srgbClr val="3E8C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2D2D2D"/>
                </a:solidFill>
                <a:latin typeface="Aptos Display"/>
              </a:rPr>
              <a:t>Objectives</a:t>
            </a:r>
            <a:endParaRPr sz="3100" b="1">
              <a:solidFill>
                <a:srgbClr val="2D2D2D"/>
              </a:solidFill>
              <a:latin typeface="Aptos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40080" y="1234440"/>
            <a:ext cx="475488" cy="475488"/>
          </a:xfrm>
          <a:prstGeom prst="ellipse">
            <a:avLst/>
          </a:prstGeom>
          <a:solidFill>
            <a:srgbClr val="0B76C5"/>
          </a:solidFill>
          <a:ln>
            <a:solidFill>
              <a:srgbClr val="0B7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07592"/>
            <a:ext cx="475488" cy="25603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61872" y="1216152"/>
            <a:ext cx="4709160" cy="310896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600" b="1">
                <a:solidFill>
                  <a:srgbClr val="0B76C5"/>
                </a:solidFill>
                <a:latin typeface="Aptos"/>
              </a:rPr>
              <a:t>Automated Disease Detection</a:t>
            </a:r>
            <a:endParaRPr sz="16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61872" y="1581912"/>
            <a:ext cx="4080510" cy="50927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Detect crop diseases from uploaded leaf images using </a:t>
            </a:r>
            <a:endParaRPr sz="1300" b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deep learning.</a:t>
            </a:r>
            <a:endParaRPr sz="13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126480" y="1234440"/>
            <a:ext cx="475488" cy="475488"/>
          </a:xfrm>
          <a:prstGeom prst="ellipse">
            <a:avLst/>
          </a:prstGeom>
          <a:solidFill>
            <a:srgbClr val="0B76C5"/>
          </a:solidFill>
          <a:ln>
            <a:solidFill>
              <a:srgbClr val="0B7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307592"/>
            <a:ext cx="475488" cy="25603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48272" y="1216152"/>
            <a:ext cx="4709160" cy="310896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600" b="1">
                <a:solidFill>
                  <a:srgbClr val="0B76C5"/>
                </a:solidFill>
                <a:latin typeface="Aptos"/>
              </a:rPr>
              <a:t>Real-Time Monitoring</a:t>
            </a:r>
            <a:endParaRPr sz="16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48272" y="1581912"/>
            <a:ext cx="5023485" cy="50927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Track temperature, humidity</a:t>
            </a:r>
            <a:r>
              <a:rPr lang="en-IN" sz="1300" b="0">
                <a:solidFill>
                  <a:srgbClr val="2D2D2D"/>
                </a:solidFill>
                <a:latin typeface="Aptos"/>
              </a:rPr>
              <a:t> through current location automatically </a:t>
            </a:r>
            <a:endParaRPr lang="en-IN" sz="1300" b="0">
              <a:solidFill>
                <a:srgbClr val="2D2D2D"/>
              </a:solidFill>
              <a:latin typeface="Aptos"/>
            </a:endParaRPr>
          </a:p>
          <a:p>
            <a:pPr algn="l"/>
            <a:r>
              <a:rPr lang="en-IN" sz="1300" b="0">
                <a:solidFill>
                  <a:srgbClr val="2D2D2D"/>
                </a:solidFill>
                <a:latin typeface="Aptos"/>
              </a:rPr>
              <a:t>by weather report</a:t>
            </a:r>
            <a:endParaRPr lang="en-IN" sz="13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40080" y="2468880"/>
            <a:ext cx="475488" cy="475488"/>
          </a:xfrm>
          <a:prstGeom prst="ellipse">
            <a:avLst/>
          </a:prstGeom>
          <a:solidFill>
            <a:srgbClr val="0B76C5"/>
          </a:solidFill>
          <a:ln>
            <a:solidFill>
              <a:srgbClr val="0B7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42032"/>
            <a:ext cx="475488" cy="25603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61872" y="2450592"/>
            <a:ext cx="4709160" cy="310896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600" b="1">
                <a:solidFill>
                  <a:srgbClr val="0B76C5"/>
                </a:solidFill>
                <a:latin typeface="Aptos"/>
              </a:rPr>
              <a:t>Intelligent Recommendations</a:t>
            </a:r>
            <a:endParaRPr sz="16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61872" y="2816352"/>
            <a:ext cx="4235450" cy="50927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Generate recommendations for irrigation, fertilizer usage</a:t>
            </a:r>
            <a:endParaRPr sz="1300" b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 and disease management.</a:t>
            </a:r>
            <a:endParaRPr sz="13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126480" y="2468880"/>
            <a:ext cx="475488" cy="475488"/>
          </a:xfrm>
          <a:prstGeom prst="ellipse">
            <a:avLst/>
          </a:prstGeom>
          <a:solidFill>
            <a:srgbClr val="0B76C5"/>
          </a:solidFill>
          <a:ln>
            <a:solidFill>
              <a:srgbClr val="0B7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542032"/>
            <a:ext cx="475488" cy="25603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48272" y="2450592"/>
            <a:ext cx="4709160" cy="310896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600" b="1">
                <a:solidFill>
                  <a:srgbClr val="0B76C5"/>
                </a:solidFill>
                <a:latin typeface="Aptos"/>
              </a:rPr>
              <a:t>Interactive Dashboard</a:t>
            </a:r>
            <a:endParaRPr sz="16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48272" y="2816352"/>
            <a:ext cx="5171440" cy="50927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Present disease reports, environmental analytics, historical predictions</a:t>
            </a:r>
            <a:endParaRPr sz="1300" b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 and personalized recommendations.</a:t>
            </a:r>
            <a:endParaRPr sz="13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40080" y="3703320"/>
            <a:ext cx="475488" cy="475488"/>
          </a:xfrm>
          <a:prstGeom prst="ellipse">
            <a:avLst/>
          </a:prstGeom>
          <a:solidFill>
            <a:srgbClr val="0B76C5"/>
          </a:solidFill>
          <a:ln>
            <a:solidFill>
              <a:srgbClr val="0B7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76472"/>
            <a:ext cx="475488" cy="25603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61872" y="3685032"/>
            <a:ext cx="4709160" cy="310896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600" b="1">
                <a:solidFill>
                  <a:srgbClr val="0B76C5"/>
                </a:solidFill>
                <a:latin typeface="Aptos"/>
              </a:rPr>
              <a:t>Reliable Platform</a:t>
            </a:r>
            <a:endParaRPr sz="16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61872" y="4050792"/>
            <a:ext cx="4709160" cy="658368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Apply DevOps, DevSecOps and MLOps practices for secure deployment and continuous model improvement.</a:t>
            </a:r>
            <a:endParaRPr sz="13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5440680"/>
            <a:ext cx="10149840" cy="36576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600" b="1">
                <a:solidFill>
                  <a:srgbClr val="3E8C4E"/>
                </a:solidFill>
                <a:latin typeface="Aptos"/>
              </a:rPr>
              <a:t>Outcome: an efficient, secure and intelligent solution for sustainable agriculture.</a:t>
            </a:r>
            <a:endParaRPr sz="1600" b="1">
              <a:solidFill>
                <a:srgbClr val="3E8C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5715000"/>
            <a:ext cx="106984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50" b="0">
                <a:solidFill>
                  <a:srgbClr val="696969"/>
                </a:solidFill>
                <a:latin typeface="Aptos"/>
              </a:rPr>
              <a:t>Note: The abstract does not provide named research papers; this slide uses only the existing-practice context stated in the abstract.</a:t>
            </a:r>
            <a:endParaRPr sz="95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256032"/>
            <a:ext cx="859536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2400" b="1">
                <a:solidFill>
                  <a:srgbClr val="2D2D2D"/>
                </a:solidFill>
                <a:latin typeface="Aptos"/>
              </a:rPr>
              <a:t>Literature Survey / Existing-Practice Context</a:t>
            </a:r>
            <a:endParaRPr sz="2400" b="1">
              <a:solidFill>
                <a:srgbClr val="2D2D2D"/>
              </a:solidFill>
              <a:latin typeface="Aptos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11480" y="960120"/>
          <a:ext cx="109728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572000"/>
              </a:tblGrid>
              <a:tr h="115443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76C5"/>
                          </a:solidFill>
                          <a:latin typeface="Aptos"/>
                        </a:rPr>
                        <a:t>Existing Practice</a:t>
                      </a:r>
                      <a:endParaRPr sz="1400" b="1">
                        <a:solidFill>
                          <a:srgbClr val="0B76C5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2BE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76C5"/>
                          </a:solidFill>
                          <a:latin typeface="Aptos"/>
                        </a:rPr>
                        <a:t>Current Limitation</a:t>
                      </a:r>
                      <a:endParaRPr sz="1400" b="1">
                        <a:solidFill>
                          <a:srgbClr val="0B76C5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2BE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76C5"/>
                          </a:solidFill>
                          <a:latin typeface="Aptos"/>
                        </a:rPr>
                        <a:t>Project Motivation</a:t>
                      </a:r>
                      <a:endParaRPr sz="1400" b="1">
                        <a:solidFill>
                          <a:srgbClr val="0B76C5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2BE00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Manual crop inspection</a:t>
                      </a:r>
                      <a:endParaRPr sz="1200">
                        <a:solidFill>
                          <a:srgbClr val="2D2D2D"/>
                        </a:solidFill>
                        <a:latin typeface="Aptos"/>
                      </a:endParaRPr>
                    </a:p>
                  </a:txBody>
                  <a:tcPr marT="73152" marB="73152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Time-consuming; may delay disease detection</a:t>
                      </a:r>
                      <a:endParaRPr sz="1200">
                        <a:solidFill>
                          <a:srgbClr val="2D2D2D"/>
                        </a:solidFill>
                        <a:latin typeface="Aptos"/>
                      </a:endParaRPr>
                    </a:p>
                  </a:txBody>
                  <a:tcPr marT="73152" marB="73152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Automated leaf-image disease detection</a:t>
                      </a:r>
                      <a:endParaRPr sz="1200">
                        <a:solidFill>
                          <a:srgbClr val="2D2D2D"/>
                        </a:solidFill>
                        <a:latin typeface="Aptos"/>
                      </a:endParaRPr>
                    </a:p>
                  </a:txBody>
                  <a:tcPr marT="73152" marB="73152">
                    <a:solidFill>
                      <a:srgbClr val="EEF5F9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Separate environmental observations</a:t>
                      </a:r>
                      <a:endParaRPr sz="1200">
                        <a:solidFill>
                          <a:srgbClr val="2D2D2D"/>
                        </a:solidFill>
                        <a:latin typeface="Aptos"/>
                      </a:endParaRPr>
                    </a:p>
                  </a:txBody>
                  <a:tcPr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Weather uncertainty and inefficient irrigation</a:t>
                      </a:r>
                      <a:endParaRPr sz="1200">
                        <a:solidFill>
                          <a:srgbClr val="2D2D2D"/>
                        </a:solidFill>
                        <a:latin typeface="Aptos"/>
                      </a:endParaRPr>
                    </a:p>
                  </a:txBody>
                  <a:tcPr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Integrated temperature, humidity and soil-moisture monitoring</a:t>
                      </a:r>
                      <a:endParaRPr sz="1200">
                        <a:solidFill>
                          <a:srgbClr val="2D2D2D"/>
                        </a:solidFill>
                        <a:latin typeface="Aptos"/>
                      </a:endParaRPr>
                    </a:p>
                  </a:txBody>
                  <a:tcPr marT="73152" marB="73152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Limited real-time agricultural insight</a:t>
                      </a:r>
                      <a:endParaRPr sz="1200">
                        <a:solidFill>
                          <a:srgbClr val="2D2D2D"/>
                        </a:solidFill>
                        <a:latin typeface="Aptos"/>
                      </a:endParaRPr>
                    </a:p>
                  </a:txBody>
                  <a:tcPr marT="73152" marB="73152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Slower decisions; possible yield/cost impact</a:t>
                      </a:r>
                      <a:endParaRPr sz="1200">
                        <a:solidFill>
                          <a:srgbClr val="2D2D2D"/>
                        </a:solidFill>
                        <a:latin typeface="Aptos"/>
                      </a:endParaRPr>
                    </a:p>
                  </a:txBody>
                  <a:tcPr marT="73152" marB="73152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Dashboard + predictive analytics + personalized recommendations</a:t>
                      </a:r>
                      <a:endParaRPr sz="1200">
                        <a:solidFill>
                          <a:srgbClr val="2D2D2D"/>
                        </a:solidFill>
                        <a:latin typeface="Aptos"/>
                      </a:endParaRPr>
                    </a:p>
                  </a:txBody>
                  <a:tcPr marT="73152" marB="73152">
                    <a:solidFill>
                      <a:srgbClr val="EEF5F9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" y="571500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50" b="0">
                <a:solidFill>
                  <a:srgbClr val="696969"/>
                </a:solidFill>
                <a:latin typeface="Aptos"/>
              </a:rPr>
              <a:t>Note: The abstract does not provide named research papers; this slide uses only the existing-practice context stated in the abstract.</a:t>
            </a:r>
            <a:endParaRPr sz="950" b="0">
              <a:solidFill>
                <a:srgbClr val="6969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2D2D2D"/>
                </a:solidFill>
                <a:latin typeface="Aptos Display"/>
              </a:rPr>
              <a:t>Problem Gap Identification</a:t>
            </a:r>
            <a:endParaRPr sz="3100" b="1">
              <a:solidFill>
                <a:srgbClr val="2D2D2D"/>
              </a:solidFill>
              <a:latin typeface="Aptos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325880"/>
            <a:ext cx="5120640" cy="1417320"/>
          </a:xfrm>
          <a:prstGeom prst="roundRect">
            <a:avLst/>
          </a:prstGeom>
          <a:solidFill>
            <a:srgbClr val="EBF6FD"/>
          </a:solidFill>
          <a:ln w="16510">
            <a:solidFill>
              <a:srgbClr val="0B7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63039"/>
            <a:ext cx="82296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200" b="1">
                <a:solidFill>
                  <a:srgbClr val="D23737"/>
                </a:solidFill>
                <a:latin typeface="Aptos"/>
              </a:rPr>
              <a:t>Gap 01</a:t>
            </a:r>
            <a:endParaRPr sz="1200" b="1">
              <a:solidFill>
                <a:srgbClr val="D23737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0200" y="1435607"/>
            <a:ext cx="3840480" cy="32004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700" b="1">
                <a:solidFill>
                  <a:srgbClr val="0B76C5"/>
                </a:solidFill>
                <a:latin typeface="Aptos"/>
              </a:rPr>
              <a:t>Disease Detection</a:t>
            </a:r>
            <a:endParaRPr sz="17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1892807"/>
            <a:ext cx="4709160" cy="68580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Manual inspection can delay identification of crop diseases.</a:t>
            </a:r>
            <a:endParaRPr sz="14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26480" y="1325880"/>
            <a:ext cx="5120640" cy="1417320"/>
          </a:xfrm>
          <a:prstGeom prst="roundRect">
            <a:avLst/>
          </a:prstGeom>
          <a:solidFill>
            <a:srgbClr val="F5F7F9"/>
          </a:solidFill>
          <a:ln w="16510">
            <a:solidFill>
              <a:srgbClr val="0B7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39"/>
            <a:ext cx="82296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200" b="1">
                <a:solidFill>
                  <a:srgbClr val="D23737"/>
                </a:solidFill>
                <a:latin typeface="Aptos"/>
              </a:rPr>
              <a:t>Gap 02</a:t>
            </a:r>
            <a:endParaRPr sz="1200" b="1">
              <a:solidFill>
                <a:srgbClr val="D23737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86600" y="1435607"/>
            <a:ext cx="3840480" cy="32004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700" b="1">
                <a:solidFill>
                  <a:srgbClr val="0B76C5"/>
                </a:solidFill>
                <a:latin typeface="Aptos"/>
              </a:rPr>
              <a:t>Data Integration</a:t>
            </a:r>
            <a:endParaRPr sz="17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09360" y="1892807"/>
            <a:ext cx="4058285" cy="53975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Crop health and environmental conditions need to</a:t>
            </a:r>
            <a:endParaRPr sz="1400" b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 be considered together.</a:t>
            </a:r>
            <a:endParaRPr sz="14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5120640" cy="1417320"/>
          </a:xfrm>
          <a:prstGeom prst="roundRect">
            <a:avLst/>
          </a:prstGeom>
          <a:solidFill>
            <a:srgbClr val="EBF6FD"/>
          </a:solidFill>
          <a:ln w="16510">
            <a:solidFill>
              <a:srgbClr val="0B7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291840"/>
            <a:ext cx="82296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200" b="1">
                <a:solidFill>
                  <a:srgbClr val="D23737"/>
                </a:solidFill>
                <a:latin typeface="Aptos"/>
              </a:rPr>
              <a:t>Gap 03</a:t>
            </a:r>
            <a:endParaRPr sz="1200" b="1">
              <a:solidFill>
                <a:srgbClr val="D23737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00200" y="3264408"/>
            <a:ext cx="3840480" cy="32004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700" b="1">
                <a:solidFill>
                  <a:srgbClr val="0B76C5"/>
                </a:solidFill>
                <a:latin typeface="Aptos"/>
              </a:rPr>
              <a:t>Actionable Decisions</a:t>
            </a:r>
            <a:endParaRPr sz="17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" y="3721608"/>
            <a:ext cx="4672330" cy="53975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Monitoring alone is insufficient without irrigation, fertilizer</a:t>
            </a:r>
            <a:endParaRPr sz="1400" b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 and disease-management recommendations.</a:t>
            </a:r>
            <a:endParaRPr sz="14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26480" y="3154680"/>
            <a:ext cx="5120640" cy="1417320"/>
          </a:xfrm>
          <a:prstGeom prst="roundRect">
            <a:avLst/>
          </a:prstGeom>
          <a:solidFill>
            <a:srgbClr val="F5F7F9"/>
          </a:solidFill>
          <a:ln w="16510">
            <a:solidFill>
              <a:srgbClr val="0B7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291840"/>
            <a:ext cx="82296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200" b="1">
                <a:solidFill>
                  <a:srgbClr val="D23737"/>
                </a:solidFill>
                <a:latin typeface="Aptos"/>
              </a:rPr>
              <a:t>Gap 04</a:t>
            </a:r>
            <a:endParaRPr sz="1200" b="1">
              <a:solidFill>
                <a:srgbClr val="D23737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6600" y="3264408"/>
            <a:ext cx="3840480" cy="32004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700" b="1">
                <a:solidFill>
                  <a:srgbClr val="0B76C5"/>
                </a:solidFill>
                <a:latin typeface="Aptos"/>
              </a:rPr>
              <a:t>Operationalization</a:t>
            </a:r>
            <a:endParaRPr sz="17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9360" y="3721608"/>
            <a:ext cx="4676775" cy="53975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A practical solution needs secure deployment, monitoring </a:t>
            </a:r>
            <a:endParaRPr sz="1400" b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and continuous ML improvement.</a:t>
            </a:r>
            <a:endParaRPr sz="14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15720" y="5166360"/>
            <a:ext cx="9255760" cy="631825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700" b="1">
                <a:solidFill>
                  <a:srgbClr val="3E8C4E"/>
                </a:solidFill>
                <a:latin typeface="Aptos"/>
              </a:rPr>
              <a:t>Identified gap → integrate AI disease prediction + sensor monitoring + recommendations </a:t>
            </a:r>
            <a:endParaRPr sz="1700" b="1">
              <a:solidFill>
                <a:srgbClr val="3E8C4E"/>
              </a:solidFill>
              <a:latin typeface="Aptos"/>
            </a:endParaRPr>
          </a:p>
          <a:p>
            <a:pPr algn="ctr"/>
            <a:r>
              <a:rPr sz="1700" b="1">
                <a:solidFill>
                  <a:srgbClr val="3E8C4E"/>
                </a:solidFill>
                <a:latin typeface="Aptos"/>
              </a:rPr>
              <a:t>+ cloud-native engineering in one platform.</a:t>
            </a:r>
            <a:endParaRPr sz="1700" b="1">
              <a:solidFill>
                <a:srgbClr val="3E8C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2D2D2D"/>
                </a:solidFill>
                <a:latin typeface="Aptos Display"/>
              </a:rPr>
              <a:t>Innovation, Creativity, and Novelty</a:t>
            </a:r>
            <a:endParaRPr sz="2900" b="1">
              <a:solidFill>
                <a:srgbClr val="2D2D2D"/>
              </a:solidFill>
              <a:latin typeface="Aptos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828800"/>
            <a:ext cx="19659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1783080" cy="25603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400" b="1">
                <a:solidFill>
                  <a:srgbClr val="3E8C4E"/>
                </a:solidFill>
                <a:latin typeface="Aptos"/>
              </a:rPr>
              <a:t>INPUT</a:t>
            </a:r>
            <a:endParaRPr sz="1400" b="1">
              <a:solidFill>
                <a:srgbClr val="3E8C4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2648" y="2359152"/>
            <a:ext cx="1737360" cy="53035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100" b="0">
                <a:solidFill>
                  <a:srgbClr val="2D2D2D"/>
                </a:solidFill>
                <a:latin typeface="Aptos"/>
              </a:rPr>
              <a:t>Leaf images + sensor data</a:t>
            </a:r>
            <a:endParaRPr sz="11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87168" y="2212848"/>
            <a:ext cx="27432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2000" b="1">
                <a:solidFill>
                  <a:srgbClr val="696969"/>
                </a:solidFill>
                <a:latin typeface="Aptos"/>
              </a:rPr>
              <a:t>→</a:t>
            </a:r>
            <a:endParaRPr sz="2000" b="1">
              <a:solidFill>
                <a:srgbClr val="696969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70632" y="1828800"/>
            <a:ext cx="19659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7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965960"/>
            <a:ext cx="1783080" cy="25603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400" b="1">
                <a:solidFill>
                  <a:srgbClr val="0B76C5"/>
                </a:solidFill>
                <a:latin typeface="Aptos"/>
              </a:rPr>
              <a:t>AI/ML</a:t>
            </a:r>
            <a:endParaRPr sz="14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80360" y="2359152"/>
            <a:ext cx="1737360" cy="53035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100" b="0">
                <a:solidFill>
                  <a:srgbClr val="2D2D2D"/>
                </a:solidFill>
                <a:latin typeface="Aptos"/>
              </a:rPr>
              <a:t>Disease detection &amp; prediction</a:t>
            </a:r>
            <a:endParaRPr sz="11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54880" y="2212848"/>
            <a:ext cx="27432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2000" b="1">
                <a:solidFill>
                  <a:srgbClr val="696969"/>
                </a:solidFill>
                <a:latin typeface="Aptos"/>
              </a:rPr>
              <a:t>→</a:t>
            </a:r>
            <a:endParaRPr sz="2000" b="1">
              <a:solidFill>
                <a:srgbClr val="696969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38344" y="1828800"/>
            <a:ext cx="19659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9783" y="1965960"/>
            <a:ext cx="1783080" cy="25603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400" b="1">
                <a:solidFill>
                  <a:srgbClr val="F2BE00"/>
                </a:solidFill>
                <a:latin typeface="Aptos"/>
              </a:rPr>
              <a:t>ANALYTICS</a:t>
            </a:r>
            <a:endParaRPr sz="1400" b="1">
              <a:solidFill>
                <a:srgbClr val="F2BE0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53495" y="2359152"/>
            <a:ext cx="1326515" cy="447675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100" b="0">
                <a:solidFill>
                  <a:srgbClr val="2D2D2D"/>
                </a:solidFill>
                <a:latin typeface="Aptos"/>
              </a:rPr>
              <a:t>Combine disease + </a:t>
            </a:r>
            <a:endParaRPr sz="1100" b="0">
              <a:solidFill>
                <a:srgbClr val="2D2D2D"/>
              </a:solidFill>
              <a:latin typeface="Aptos"/>
            </a:endParaRPr>
          </a:p>
          <a:p>
            <a:pPr algn="ctr"/>
            <a:r>
              <a:rPr sz="1100" b="0">
                <a:solidFill>
                  <a:srgbClr val="2D2D2D"/>
                </a:solidFill>
                <a:latin typeface="Aptos"/>
              </a:rPr>
              <a:t>environment</a:t>
            </a:r>
            <a:endParaRPr sz="11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22592" y="2212848"/>
            <a:ext cx="27432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2000" b="1">
                <a:solidFill>
                  <a:srgbClr val="696969"/>
                </a:solidFill>
                <a:latin typeface="Aptos"/>
              </a:rPr>
              <a:t>→</a:t>
            </a:r>
            <a:endParaRPr sz="2000" b="1">
              <a:solidFill>
                <a:srgbClr val="696969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06055" y="1828800"/>
            <a:ext cx="19659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97496" y="1965960"/>
            <a:ext cx="1783080" cy="25603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400" b="1">
                <a:solidFill>
                  <a:srgbClr val="D23737"/>
                </a:solidFill>
                <a:latin typeface="Aptos"/>
              </a:rPr>
              <a:t>ACTION</a:t>
            </a:r>
            <a:endParaRPr sz="1400" b="1">
              <a:solidFill>
                <a:srgbClr val="D23737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68183" y="2359152"/>
            <a:ext cx="1432560" cy="447675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100" b="0">
                <a:solidFill>
                  <a:srgbClr val="2D2D2D"/>
                </a:solidFill>
                <a:latin typeface="Aptos"/>
              </a:rPr>
              <a:t>Irrigation / fertilizer / </a:t>
            </a:r>
            <a:endParaRPr sz="1100" b="0">
              <a:solidFill>
                <a:srgbClr val="2D2D2D"/>
              </a:solidFill>
              <a:latin typeface="Aptos"/>
            </a:endParaRPr>
          </a:p>
          <a:p>
            <a:pPr algn="ctr"/>
            <a:r>
              <a:rPr sz="1100" b="0">
                <a:solidFill>
                  <a:srgbClr val="2D2D2D"/>
                </a:solidFill>
                <a:latin typeface="Aptos"/>
              </a:rPr>
              <a:t>disease guidance</a:t>
            </a:r>
            <a:endParaRPr sz="11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90304" y="2212848"/>
            <a:ext cx="27432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2000" b="1">
                <a:solidFill>
                  <a:srgbClr val="696969"/>
                </a:solidFill>
                <a:latin typeface="Aptos"/>
              </a:rPr>
              <a:t>→</a:t>
            </a:r>
            <a:endParaRPr sz="2000" b="1">
              <a:solidFill>
                <a:srgbClr val="696969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573768" y="1828800"/>
            <a:ext cx="19659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5208" y="1965960"/>
            <a:ext cx="1783080" cy="25603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400" b="1">
                <a:solidFill>
                  <a:srgbClr val="4270B4"/>
                </a:solidFill>
                <a:latin typeface="Aptos"/>
              </a:rPr>
              <a:t>DELIVERY</a:t>
            </a:r>
            <a:endParaRPr sz="1400" b="1">
              <a:solidFill>
                <a:srgbClr val="4270B4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83496" y="2359152"/>
            <a:ext cx="1737360" cy="53035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100" b="0">
                <a:solidFill>
                  <a:srgbClr val="2D2D2D"/>
                </a:solidFill>
                <a:latin typeface="Aptos"/>
              </a:rPr>
              <a:t>Dashboard, reports &amp; alerts</a:t>
            </a:r>
            <a:endParaRPr sz="11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14400" y="3703320"/>
            <a:ext cx="3154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7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794759"/>
            <a:ext cx="2880360" cy="34747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600" b="1">
                <a:solidFill>
                  <a:srgbClr val="0B76C5"/>
                </a:solidFill>
                <a:latin typeface="Aptos"/>
              </a:rPr>
              <a:t>Integrated Intelligence</a:t>
            </a:r>
            <a:endParaRPr sz="16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51560" y="4206240"/>
            <a:ext cx="2794000" cy="50927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Disease status + environmental data </a:t>
            </a:r>
            <a:endParaRPr sz="1300" b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are analyzed together.</a:t>
            </a:r>
            <a:endParaRPr sz="13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26280" y="3703320"/>
            <a:ext cx="3154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E8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794759"/>
            <a:ext cx="2880360" cy="34747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600" b="1">
                <a:solidFill>
                  <a:srgbClr val="3E8C4E"/>
                </a:solidFill>
                <a:latin typeface="Aptos"/>
              </a:rPr>
              <a:t>Continuous Improvement</a:t>
            </a:r>
            <a:endParaRPr sz="1600" b="1">
              <a:solidFill>
                <a:srgbClr val="3E8C4E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663440" y="4206240"/>
            <a:ext cx="2790825" cy="50927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MLOps with MLflow supports model </a:t>
            </a:r>
            <a:endParaRPr sz="1300" b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lifecycle management.</a:t>
            </a:r>
            <a:endParaRPr sz="13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138160" y="3703320"/>
            <a:ext cx="3154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3794759"/>
            <a:ext cx="2880360" cy="34747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600" b="1">
                <a:solidFill>
                  <a:srgbClr val="D23737"/>
                </a:solidFill>
                <a:latin typeface="Aptos"/>
              </a:rPr>
              <a:t>Cloud-Native Delivery</a:t>
            </a:r>
            <a:endParaRPr sz="1600" b="1">
              <a:solidFill>
                <a:srgbClr val="D23737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75320" y="4206240"/>
            <a:ext cx="2538730" cy="50927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Docker, GitHub Actions and AWS </a:t>
            </a:r>
            <a:endParaRPr sz="1300" b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support reliable deployment.</a:t>
            </a:r>
            <a:endParaRPr sz="13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0120" y="5349240"/>
            <a:ext cx="10058400" cy="45720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500" b="1">
                <a:solidFill>
                  <a:srgbClr val="4270B4"/>
                </a:solidFill>
                <a:latin typeface="Aptos"/>
              </a:rPr>
              <a:t>Novelty is the end-to-end integration of prediction, monitoring, recommendations and engineering practices in one platform.</a:t>
            </a:r>
            <a:endParaRPr sz="1500" b="1">
              <a:solidFill>
                <a:srgbClr val="4270B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2D2D2D"/>
                </a:solidFill>
                <a:latin typeface="Aptos Display"/>
              </a:rPr>
              <a:t>Feasibility and Project Plan</a:t>
            </a:r>
            <a:endParaRPr sz="2700" b="1">
              <a:solidFill>
                <a:srgbClr val="2D2D2D"/>
              </a:solidFill>
              <a:latin typeface="Aptos Display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806440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1097280"/>
            <a:ext cx="4572000" cy="32004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2000" b="1">
                <a:solidFill>
                  <a:srgbClr val="0B76C5"/>
                </a:solidFill>
                <a:latin typeface="Aptos"/>
              </a:rPr>
              <a:t>Feasibility</a:t>
            </a:r>
            <a:endParaRPr sz="20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29400" y="1508760"/>
            <a:ext cx="4389120" cy="1965960"/>
          </a:xfrm>
          <a:prstGeom prst="rect">
            <a:avLst/>
          </a:prstGeom>
          <a:noFill/>
        </p:spPr>
        <p:txBody>
          <a:bodyPr wrap="square" lIns="109728" rIns="4572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• Software: React, FastAPI, PostgreSQL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• AI/ML: Deep learning + MLflow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• Deployment: Docker, GitHub Actions, AWS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• Security &amp; delivery: DevSecOps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611880"/>
            <a:ext cx="4572000" cy="32004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800" b="1">
                <a:solidFill>
                  <a:srgbClr val="0B76C5"/>
                </a:solidFill>
                <a:latin typeface="Aptos"/>
              </a:rPr>
              <a:t>Proposed Phase Timeline</a:t>
            </a:r>
            <a:endParaRPr sz="18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29400" y="4069080"/>
            <a:ext cx="658368" cy="960120"/>
          </a:xfrm>
          <a:prstGeom prst="roundRect">
            <a:avLst/>
          </a:prstGeom>
          <a:solidFill>
            <a:srgbClr val="E6F0F8"/>
          </a:solidFill>
          <a:ln>
            <a:solidFill>
              <a:srgbClr val="0B7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4187952"/>
            <a:ext cx="603504" cy="22860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100" b="1">
                <a:solidFill>
                  <a:srgbClr val="0B76C5"/>
                </a:solidFill>
                <a:latin typeface="Aptos"/>
              </a:rPr>
              <a:t>1</a:t>
            </a:r>
            <a:endParaRPr sz="11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47688" y="4480560"/>
            <a:ext cx="621792" cy="43891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750" b="1">
                <a:solidFill>
                  <a:srgbClr val="2D2D2D"/>
                </a:solidFill>
                <a:latin typeface="Aptos"/>
              </a:rPr>
              <a:t>Requirements</a:t>
            </a:r>
            <a:endParaRPr sz="75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79208" y="4069080"/>
            <a:ext cx="658368" cy="960120"/>
          </a:xfrm>
          <a:prstGeom prst="roundRect">
            <a:avLst/>
          </a:prstGeom>
          <a:solidFill>
            <a:srgbClr val="F2F7F2"/>
          </a:solidFill>
          <a:ln>
            <a:solidFill>
              <a:srgbClr val="3E8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187952"/>
            <a:ext cx="603504" cy="22860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100" b="1">
                <a:solidFill>
                  <a:srgbClr val="0B76C5"/>
                </a:solidFill>
                <a:latin typeface="Aptos"/>
              </a:rPr>
              <a:t>2</a:t>
            </a:r>
            <a:endParaRPr sz="11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97496" y="4480560"/>
            <a:ext cx="621792" cy="43891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750" b="1">
                <a:solidFill>
                  <a:srgbClr val="2D2D2D"/>
                </a:solidFill>
                <a:latin typeface="Aptos"/>
              </a:rPr>
              <a:t>Data &amp; ML</a:t>
            </a:r>
            <a:endParaRPr sz="75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29270" y="4069080"/>
            <a:ext cx="676910" cy="960120"/>
          </a:xfrm>
          <a:prstGeom prst="roundRect">
            <a:avLst/>
          </a:prstGeom>
          <a:solidFill>
            <a:srgbClr val="E6F0F8"/>
          </a:solidFill>
          <a:ln>
            <a:solidFill>
              <a:srgbClr val="0B7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4187952"/>
            <a:ext cx="603504" cy="22860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100" b="1">
                <a:solidFill>
                  <a:srgbClr val="0B76C5"/>
                </a:solidFill>
                <a:latin typeface="Aptos"/>
              </a:rPr>
              <a:t>3</a:t>
            </a:r>
            <a:endParaRPr sz="11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47304" y="4480560"/>
            <a:ext cx="621792" cy="43891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750" b="1">
                <a:solidFill>
                  <a:srgbClr val="2D2D2D"/>
                </a:solidFill>
                <a:latin typeface="Aptos"/>
              </a:rPr>
              <a:t>Backend &amp; DB</a:t>
            </a:r>
            <a:endParaRPr sz="75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878824" y="4069080"/>
            <a:ext cx="658368" cy="960120"/>
          </a:xfrm>
          <a:prstGeom prst="roundRect">
            <a:avLst/>
          </a:prstGeom>
          <a:solidFill>
            <a:srgbClr val="F2F7F2"/>
          </a:solidFill>
          <a:ln>
            <a:solidFill>
              <a:srgbClr val="3E8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06256" y="4187952"/>
            <a:ext cx="603504" cy="22860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100" b="1">
                <a:solidFill>
                  <a:srgbClr val="0B76C5"/>
                </a:solidFill>
                <a:latin typeface="Aptos"/>
              </a:rPr>
              <a:t>4</a:t>
            </a:r>
            <a:endParaRPr sz="11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97112" y="4480560"/>
            <a:ext cx="621792" cy="43891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750" b="1">
                <a:solidFill>
                  <a:srgbClr val="2D2D2D"/>
                </a:solidFill>
                <a:latin typeface="Aptos"/>
              </a:rPr>
              <a:t>Dashboard</a:t>
            </a:r>
            <a:endParaRPr sz="75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628632" y="4069080"/>
            <a:ext cx="658368" cy="960120"/>
          </a:xfrm>
          <a:prstGeom prst="roundRect">
            <a:avLst/>
          </a:prstGeom>
          <a:solidFill>
            <a:srgbClr val="E6F0F8"/>
          </a:solidFill>
          <a:ln>
            <a:solidFill>
              <a:srgbClr val="0B7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56063" y="4187952"/>
            <a:ext cx="603504" cy="22860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100" b="1">
                <a:solidFill>
                  <a:srgbClr val="0B76C5"/>
                </a:solidFill>
                <a:latin typeface="Aptos"/>
              </a:rPr>
              <a:t>5</a:t>
            </a:r>
            <a:endParaRPr sz="11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08578" y="4480560"/>
            <a:ext cx="498475" cy="339725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750" b="1">
                <a:solidFill>
                  <a:srgbClr val="2D2D2D"/>
                </a:solidFill>
                <a:latin typeface="Aptos"/>
              </a:rPr>
              <a:t>DevOps/</a:t>
            </a:r>
            <a:endParaRPr sz="750" b="1">
              <a:solidFill>
                <a:srgbClr val="2D2D2D"/>
              </a:solidFill>
              <a:latin typeface="Aptos"/>
            </a:endParaRPr>
          </a:p>
          <a:p>
            <a:pPr algn="ctr"/>
            <a:r>
              <a:rPr sz="750" b="1">
                <a:solidFill>
                  <a:srgbClr val="2D2D2D"/>
                </a:solidFill>
                <a:latin typeface="Aptos"/>
              </a:rPr>
              <a:t>MLOps</a:t>
            </a:r>
            <a:endParaRPr sz="75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0378440" y="4069080"/>
            <a:ext cx="658368" cy="960120"/>
          </a:xfrm>
          <a:prstGeom prst="roundRect">
            <a:avLst/>
          </a:prstGeom>
          <a:solidFill>
            <a:srgbClr val="F2F7F2"/>
          </a:solidFill>
          <a:ln>
            <a:solidFill>
              <a:srgbClr val="3E8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05872" y="4187952"/>
            <a:ext cx="603504" cy="22860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1100" b="1">
                <a:solidFill>
                  <a:srgbClr val="0B76C5"/>
                </a:solidFill>
                <a:latin typeface="Aptos"/>
              </a:rPr>
              <a:t>6</a:t>
            </a:r>
            <a:endParaRPr sz="1100" b="1">
              <a:solidFill>
                <a:srgbClr val="0B76C5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364407" y="4480560"/>
            <a:ext cx="686435" cy="339725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750" b="1">
                <a:solidFill>
                  <a:srgbClr val="2D2D2D"/>
                </a:solidFill>
                <a:latin typeface="Aptos"/>
              </a:rPr>
              <a:t>Testing &amp;</a:t>
            </a:r>
            <a:endParaRPr sz="750" b="1">
              <a:solidFill>
                <a:srgbClr val="2D2D2D"/>
              </a:solidFill>
              <a:latin typeface="Aptos"/>
            </a:endParaRPr>
          </a:p>
          <a:p>
            <a:pPr algn="ctr"/>
            <a:r>
              <a:rPr sz="750" b="1">
                <a:solidFill>
                  <a:srgbClr val="2D2D2D"/>
                </a:solidFill>
                <a:latin typeface="Aptos"/>
              </a:rPr>
              <a:t> Deployment</a:t>
            </a:r>
            <a:endParaRPr sz="75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37960" y="5166360"/>
            <a:ext cx="4572000" cy="5029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/>
            <a:r>
              <a:rPr sz="950" b="0">
                <a:solidFill>
                  <a:srgbClr val="696969"/>
                </a:solidFill>
                <a:latin typeface="Aptos"/>
              </a:rPr>
              <a:t>The timeline is a proposed phase plan derived from the project scope; dates are not specified in the abstract.</a:t>
            </a:r>
            <a:endParaRPr sz="950" b="0">
              <a:solidFill>
                <a:srgbClr val="696969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4125</Words>
  <Application>WPS Presentation</Application>
  <PresentationFormat>Widescreen</PresentationFormat>
  <Paragraphs>250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6" baseType="lpstr">
      <vt:lpstr>Arial</vt:lpstr>
      <vt:lpstr>SimSun</vt:lpstr>
      <vt:lpstr>Wingdings</vt:lpstr>
      <vt:lpstr>Aptos</vt:lpstr>
      <vt:lpstr>Segoe UI</vt:lpstr>
      <vt:lpstr>Times New Roman</vt:lpstr>
      <vt:lpstr>Georgia</vt:lpstr>
      <vt:lpstr>Calibri</vt:lpstr>
      <vt:lpstr>Poppins</vt:lpstr>
      <vt:lpstr>Aptos Display</vt:lpstr>
      <vt:lpstr>Segoe UI Variable Display</vt:lpstr>
      <vt:lpstr>Microsoft YaHei</vt:lpstr>
      <vt:lpstr>Arial Unicode MS</vt:lpstr>
      <vt:lpstr>Calibri Light</vt:lpstr>
      <vt:lpstr>Segoe Print</vt:lpstr>
      <vt:lpstr>Aptos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BHONGIRI VAISHNAVI 2420090026</cp:lastModifiedBy>
  <cp:revision>34</cp:revision>
  <dcterms:created xsi:type="dcterms:W3CDTF">2026-08-08T06:33:00Z</dcterms:created>
  <dcterms:modified xsi:type="dcterms:W3CDTF">2026-10-01T08:16:59Z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79B644A31723480D8F813C525C58E641_13</vt:lpwstr>
  </property>
  <property fmtid="{D5CDD505-2E9C-101B-9397-08002B2CF9AE}" pid="3" name="KSOProductBuildVer">
    <vt:lpwstr>2057-12.2.0.23206</vt:lpwstr>
  </property>
</Properties>
</file>